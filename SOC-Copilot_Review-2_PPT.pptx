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9"/>
  </p:notesMasterIdLst>
  <p:handoutMasterIdLst>
    <p:handoutMasterId r:id="rId20"/>
  </p:handoutMasterIdLst>
  <p:sldIdLst>
    <p:sldId id="312" r:id="rId5"/>
    <p:sldId id="307" r:id="rId6"/>
    <p:sldId id="304" r:id="rId7"/>
    <p:sldId id="281" r:id="rId8"/>
    <p:sldId id="282" r:id="rId9"/>
    <p:sldId id="317" r:id="rId10"/>
    <p:sldId id="319" r:id="rId11"/>
    <p:sldId id="323" r:id="rId12"/>
    <p:sldId id="321" r:id="rId13"/>
    <p:sldId id="322" r:id="rId14"/>
    <p:sldId id="324" r:id="rId15"/>
    <p:sldId id="325" r:id="rId16"/>
    <p:sldId id="326" r:id="rId17"/>
    <p:sldId id="297" r:id="rId18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7" autoAdjust="0"/>
    <p:restoredTop sz="93707" autoAdjust="0"/>
  </p:normalViewPr>
  <p:slideViewPr>
    <p:cSldViewPr snapToGrid="0" snapToObjects="1">
      <p:cViewPr>
        <p:scale>
          <a:sx n="37" d="100"/>
          <a:sy n="37" d="100"/>
        </p:scale>
        <p:origin x="152" y="576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-2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01860-A216-940C-6D83-397521F9F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E9771D-4AD3-74BB-BB61-586852A8F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5EF041-57A2-7928-3529-65306D7F0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7451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7F5F7-1E75-AB09-BB86-0ECC378E4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9254B7-4329-65AD-9451-E17969DD7C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E69B2F-CBA6-D71E-BBED-61E584B2D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8864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6FDB4-FE1D-7F88-08E7-017F550FE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C31220-9CEA-6F56-44EB-9BDD6542C7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156F59-23C1-EFE4-0B2C-A02D9BEB5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453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247FB-E410-49DB-2592-4FDE8E808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5A7861-970F-F103-7562-D8EBD55CAA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C03058-1073-7852-B3C8-9E7DAAFB5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528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B291411-3A60-5925-6108-9D085702D804}"/>
              </a:ext>
            </a:extLst>
          </p:cNvPr>
          <p:cNvSpPr txBox="1">
            <a:spLocks/>
          </p:cNvSpPr>
          <p:nvPr/>
        </p:nvSpPr>
        <p:spPr>
          <a:xfrm>
            <a:off x="2909752" y="1479002"/>
            <a:ext cx="6372496" cy="2086527"/>
          </a:xfrm>
          <a:prstGeom prst="rect">
            <a:avLst/>
          </a:prstGeom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000" dirty="0"/>
              <a:t>Project</a:t>
            </a:r>
          </a:p>
          <a:p>
            <a:r>
              <a:rPr lang="en-US" sz="5000" dirty="0"/>
              <a:t>Review - 2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A0E150-C798-AD61-20B5-C48D317A6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77001"/>
            <a:ext cx="12192000" cy="4571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710FC0A-EBD1-7186-07DE-97BCF56AE129}"/>
              </a:ext>
            </a:extLst>
          </p:cNvPr>
          <p:cNvSpPr txBox="1"/>
          <p:nvPr/>
        </p:nvSpPr>
        <p:spPr>
          <a:xfrm>
            <a:off x="2909752" y="6500739"/>
            <a:ext cx="6097836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70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CAI</a:t>
            </a:r>
            <a:endParaRPr lang="en-IN" sz="1700" spc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04950"/>
            <a:ext cx="12268200" cy="1630136"/>
          </a:xfrm>
        </p:spPr>
        <p:txBody>
          <a:bodyPr/>
          <a:lstStyle/>
          <a:p>
            <a:pPr algn="ctr"/>
            <a:r>
              <a:rPr lang="en-GB" sz="2800" dirty="0">
                <a:latin typeface="+mn-lt"/>
              </a:rPr>
              <a:t>SOC COPILOT – Hybrid ML-Based Security Operations Center Assistant</a:t>
            </a:r>
            <a:endParaRPr lang="en-US" sz="2800" dirty="0"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D7AC69-318A-DFAC-926F-1D9B6D59E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504950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650F1967-0F6A-1D4A-2DB7-B3F8BC1811E5}"/>
              </a:ext>
            </a:extLst>
          </p:cNvPr>
          <p:cNvSpPr txBox="1">
            <a:spLocks/>
          </p:cNvSpPr>
          <p:nvPr/>
        </p:nvSpPr>
        <p:spPr>
          <a:xfrm>
            <a:off x="1136871" y="3507161"/>
            <a:ext cx="2264279" cy="459828"/>
          </a:xfrm>
          <a:prstGeom prst="rect">
            <a:avLst/>
          </a:prstGeom>
        </p:spPr>
        <p:txBody>
          <a:bodyPr>
            <a:noAutofit/>
          </a:bodyPr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Batch No: 11</a:t>
            </a:r>
            <a:endParaRPr lang="en-IN" sz="2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22AFF7-A0F2-84C7-F25E-CF7EAD6BEECF}"/>
              </a:ext>
            </a:extLst>
          </p:cNvPr>
          <p:cNvSpPr txBox="1"/>
          <p:nvPr/>
        </p:nvSpPr>
        <p:spPr>
          <a:xfrm>
            <a:off x="1119936" y="4214648"/>
            <a:ext cx="37942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cs typeface="Times New Roman" panose="02020603050405020304" pitchFamily="18" charset="0"/>
              </a:rPr>
              <a:t>Project Guide </a:t>
            </a:r>
            <a:r>
              <a:rPr lang="en-US" sz="2400" dirty="0">
                <a:cs typeface="Times New Roman" panose="02020603050405020304" pitchFamily="18" charset="0"/>
              </a:rPr>
              <a:t>:</a:t>
            </a:r>
            <a:endParaRPr lang="en-IN" sz="2400" dirty="0"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IN" sz="2000" dirty="0"/>
              <a:t>Dr. G K V Narasimha Reddy</a:t>
            </a:r>
            <a:r>
              <a:rPr lang="en-IN" sz="1600" dirty="0"/>
              <a:t> </a:t>
            </a:r>
            <a:endParaRPr lang="en-IN" sz="1600" dirty="0">
              <a:cs typeface="Times New Roman" panose="02020603050405020304" pitchFamily="18" charset="0"/>
            </a:endParaRPr>
          </a:p>
          <a:p>
            <a:r>
              <a:rPr lang="en-IN" sz="1600" dirty="0">
                <a:cs typeface="Times New Roman" panose="02020603050405020304" pitchFamily="18" charset="0"/>
              </a:rPr>
              <a:t>Professor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6D14CC-BCA5-ABFF-2FFC-9FCB1551F96D}"/>
              </a:ext>
            </a:extLst>
          </p:cNvPr>
          <p:cNvSpPr txBox="1"/>
          <p:nvPr/>
        </p:nvSpPr>
        <p:spPr>
          <a:xfrm>
            <a:off x="6134100" y="3505847"/>
            <a:ext cx="5465424" cy="233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cs typeface="Times New Roman" panose="02020603050405020304" pitchFamily="18" charset="0"/>
              </a:rPr>
              <a:t>Project Members With RNO :</a:t>
            </a:r>
          </a:p>
          <a:p>
            <a:endParaRPr lang="en-US" sz="2000" dirty="0"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Times New Roman" panose="02020603050405020304" pitchFamily="18" charset="0"/>
              </a:rPr>
              <a:t>Karu Praneeth Kumar – 22G31A3140 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2000" dirty="0" err="1"/>
              <a:t>Aarupalli</a:t>
            </a:r>
            <a:r>
              <a:rPr lang="en-IN" sz="2000" dirty="0"/>
              <a:t> Karthik </a:t>
            </a:r>
            <a:r>
              <a:rPr lang="en-US" sz="2000" dirty="0">
                <a:cs typeface="Times New Roman" panose="02020603050405020304" pitchFamily="18" charset="0"/>
              </a:rPr>
              <a:t>–</a:t>
            </a:r>
            <a:r>
              <a:rPr lang="en-IN" sz="2000" dirty="0"/>
              <a:t> 22G31A3101 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Kanike Vinay </a:t>
            </a:r>
            <a:r>
              <a:rPr lang="en-US" sz="2000" dirty="0">
                <a:cs typeface="Times New Roman" panose="02020603050405020304" pitchFamily="18" charset="0"/>
              </a:rPr>
              <a:t>– </a:t>
            </a:r>
            <a:r>
              <a:rPr lang="en-IN" sz="2000" dirty="0"/>
              <a:t>22G31A3139 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2000" dirty="0" err="1"/>
              <a:t>Pavadi</a:t>
            </a:r>
            <a:r>
              <a:rPr lang="en-IN" sz="2000" dirty="0"/>
              <a:t> Bharath </a:t>
            </a:r>
            <a:r>
              <a:rPr lang="en-US" sz="2000" dirty="0">
                <a:cs typeface="Times New Roman" panose="02020603050405020304" pitchFamily="18" charset="0"/>
              </a:rPr>
              <a:t>– </a:t>
            </a:r>
            <a:r>
              <a:rPr lang="en-IN" sz="2000" dirty="0"/>
              <a:t>22G31A3166</a:t>
            </a:r>
            <a:endParaRPr lang="en-US" sz="2000" dirty="0"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B72A3C3-B93C-9166-F791-C662D0DCA0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477001"/>
            <a:ext cx="12192000" cy="45719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BC9D8E8-AB98-CDE5-08BD-513502B1711D}"/>
              </a:ext>
            </a:extLst>
          </p:cNvPr>
          <p:cNvSpPr txBox="1"/>
          <p:nvPr/>
        </p:nvSpPr>
        <p:spPr>
          <a:xfrm>
            <a:off x="2909752" y="6500739"/>
            <a:ext cx="6097836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700" spc="300" dirty="0">
                <a:cs typeface="Times New Roman" panose="02020603050405020304" pitchFamily="18" charset="0"/>
              </a:rPr>
              <a:t>Department of CAI</a:t>
            </a:r>
            <a:endParaRPr lang="en-IN" sz="1700" spc="3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91" y="735891"/>
            <a:ext cx="6583680" cy="726780"/>
          </a:xfrm>
        </p:spPr>
        <p:txBody>
          <a:bodyPr/>
          <a:lstStyle/>
          <a:p>
            <a:r>
              <a:rPr lang="en-US" dirty="0">
                <a:latin typeface="+mn-lt"/>
                <a:cs typeface="Times New Roman" panose="02020603050405020304" pitchFamily="18" charset="0"/>
              </a:rPr>
              <a:t>Content :</a:t>
            </a:r>
            <a:endParaRPr lang="en-US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>
                <a:latin typeface="+mn-lt"/>
              </a:rPr>
              <a:pPr/>
              <a:t>3</a:t>
            </a:fld>
            <a:endParaRPr lang="en-US" dirty="0">
              <a:latin typeface="+mn-lt"/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CD7C5CD3-4458-C34E-CAE7-13A381668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291" y="1881981"/>
            <a:ext cx="6583363" cy="4154795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spc="0" dirty="0">
                <a:solidFill>
                  <a:schemeClr val="tx1"/>
                </a:solidFill>
                <a:cs typeface="Times New Roman" panose="02020603050405020304" pitchFamily="18" charset="0"/>
              </a:rPr>
              <a:t>Problem Statement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spc="0" dirty="0">
                <a:solidFill>
                  <a:schemeClr val="tx1"/>
                </a:solidFill>
                <a:cs typeface="Times New Roman" panose="02020603050405020304" pitchFamily="18" charset="0"/>
              </a:rPr>
              <a:t>Objective of the Project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spc="0" dirty="0">
                <a:solidFill>
                  <a:schemeClr val="tx1"/>
                </a:solidFill>
                <a:cs typeface="Times New Roman" panose="02020603050405020304" pitchFamily="18" charset="0"/>
              </a:rPr>
              <a:t>Review-1 Focus: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spc="0" dirty="0">
                <a:solidFill>
                  <a:schemeClr val="tx1"/>
                </a:solidFill>
                <a:cs typeface="Times New Roman" panose="02020603050405020304" pitchFamily="18" charset="0"/>
              </a:rPr>
              <a:t>Requirement analysis &amp; system design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spc="0" dirty="0">
                <a:solidFill>
                  <a:schemeClr val="tx1"/>
                </a:solidFill>
                <a:cs typeface="Times New Roman" panose="02020603050405020304" pitchFamily="18" charset="0"/>
              </a:rPr>
              <a:t>module identification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spc="0" dirty="0">
                <a:solidFill>
                  <a:schemeClr val="tx1"/>
                </a:solidFill>
                <a:cs typeface="Times New Roman" panose="02020603050405020304" pitchFamily="18" charset="0"/>
              </a:rPr>
              <a:t>Algorithms Used &amp; Techniques Used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spc="0" dirty="0">
                <a:solidFill>
                  <a:schemeClr val="tx1"/>
                </a:solidFill>
                <a:cs typeface="Times New Roman" panose="02020603050405020304" pitchFamily="18" charset="0"/>
              </a:rPr>
              <a:t>Tools &amp; Technologies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spc="0" dirty="0">
                <a:solidFill>
                  <a:schemeClr val="tx1"/>
                </a:solidFill>
                <a:cs typeface="Times New Roman" panose="02020603050405020304" pitchFamily="18" charset="0"/>
              </a:rPr>
              <a:t>Review-1 Outcome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spc="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1644F77-11ED-867B-64CC-CCEF494C33DC}"/>
              </a:ext>
            </a:extLst>
          </p:cNvPr>
          <p:cNvCxnSpPr>
            <a:cxnSpLocks/>
          </p:cNvCxnSpPr>
          <p:nvPr/>
        </p:nvCxnSpPr>
        <p:spPr>
          <a:xfrm>
            <a:off x="843409" y="1630496"/>
            <a:ext cx="2494702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17DC80E6-DA0A-75D4-5FAE-0409496C8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77001"/>
            <a:ext cx="12192000" cy="45719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E407064-215B-0EE9-8A57-98A07F05253F}"/>
              </a:ext>
            </a:extLst>
          </p:cNvPr>
          <p:cNvSpPr txBox="1"/>
          <p:nvPr/>
        </p:nvSpPr>
        <p:spPr>
          <a:xfrm>
            <a:off x="2909752" y="6500739"/>
            <a:ext cx="6097836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700" spc="300" dirty="0">
                <a:cs typeface="Times New Roman" panose="02020603050405020304" pitchFamily="18" charset="0"/>
              </a:rPr>
              <a:t>Department of CAI</a:t>
            </a:r>
            <a:endParaRPr lang="en-IN" sz="1700" spc="3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0304"/>
            <a:ext cx="6169446" cy="820120"/>
          </a:xfrm>
        </p:spPr>
        <p:txBody>
          <a:bodyPr/>
          <a:lstStyle/>
          <a:p>
            <a:r>
              <a:rPr lang="en-US" sz="2800" dirty="0">
                <a:latin typeface="+mn-lt"/>
                <a:cs typeface="Times New Roman" panose="02020603050405020304" pitchFamily="18" charset="0"/>
              </a:rPr>
              <a:t>Problem Statement:</a:t>
            </a:r>
            <a:endParaRPr lang="en-US" sz="2800" dirty="0">
              <a:latin typeface="+mn-lt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38D1275-EB63-A9E8-57BC-F9B99946FC4C}"/>
              </a:ext>
            </a:extLst>
          </p:cNvPr>
          <p:cNvCxnSpPr>
            <a:cxnSpLocks/>
          </p:cNvCxnSpPr>
          <p:nvPr/>
        </p:nvCxnSpPr>
        <p:spPr>
          <a:xfrm>
            <a:off x="875308" y="1581949"/>
            <a:ext cx="4334519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80370E5-0147-A075-3969-B5C3B2A4F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77001"/>
            <a:ext cx="12192000" cy="4571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21F7954-6882-7245-2261-750D587F43CD}"/>
              </a:ext>
            </a:extLst>
          </p:cNvPr>
          <p:cNvSpPr txBox="1"/>
          <p:nvPr/>
        </p:nvSpPr>
        <p:spPr>
          <a:xfrm>
            <a:off x="2909752" y="6500739"/>
            <a:ext cx="6097836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700" spc="300" dirty="0">
                <a:cs typeface="Times New Roman" panose="02020603050405020304" pitchFamily="18" charset="0"/>
              </a:rPr>
              <a:t>Department of CAI</a:t>
            </a:r>
            <a:endParaRPr lang="en-IN" sz="1700" spc="300" dirty="0"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BAC8EEA-6C6B-BB82-0A54-DE9FB5637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889" y="2079805"/>
            <a:ext cx="10671276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q"/>
              <a:defRPr sz="2000">
                <a:solidFill>
                  <a:srgbClr val="333333"/>
                </a:solidFill>
              </a:defRPr>
            </a:pPr>
            <a:r>
              <a:rPr lang="en-GB" sz="2200" b="1" dirty="0"/>
              <a:t>Alert Fatigue:</a:t>
            </a:r>
            <a:r>
              <a:rPr lang="en-GB" sz="2200" dirty="0"/>
              <a:t> Analysts review thousands of alerts daily, missing genuine threats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q"/>
              <a:defRPr sz="2000">
                <a:solidFill>
                  <a:srgbClr val="333333"/>
                </a:solidFill>
              </a:defRPr>
            </a:pPr>
            <a:r>
              <a:rPr lang="en-GB" sz="2200" b="1" dirty="0"/>
              <a:t>Delayed Response:</a:t>
            </a:r>
            <a:r>
              <a:rPr lang="en-GB" sz="2200" dirty="0"/>
              <a:t> Manual triage increases Mean Time to Detect (MTTD)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q"/>
              <a:defRPr sz="2000">
                <a:solidFill>
                  <a:srgbClr val="333333"/>
                </a:solidFill>
              </a:defRPr>
            </a:pPr>
            <a:r>
              <a:rPr lang="en-GB" sz="2200" b="1" dirty="0"/>
              <a:t>Inconsistent Decisions:</a:t>
            </a:r>
            <a:r>
              <a:rPr lang="en-GB" sz="2200" dirty="0"/>
              <a:t> Human judgment varies across analysts and shifts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q"/>
              <a:defRPr sz="2000">
                <a:solidFill>
                  <a:srgbClr val="333333"/>
                </a:solidFill>
              </a:defRPr>
            </a:pPr>
            <a:r>
              <a:rPr lang="en-GB" sz="2200" b="1" dirty="0"/>
              <a:t>Data Overload: </a:t>
            </a:r>
            <a:r>
              <a:rPr lang="en-GB" sz="2200" dirty="0"/>
              <a:t>Unable to process heterogeneous log formats efficiently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q"/>
              <a:defRPr sz="2000">
                <a:solidFill>
                  <a:srgbClr val="333333"/>
                </a:solidFill>
              </a:defRPr>
            </a:pPr>
            <a:r>
              <a:rPr lang="en-GB" sz="2200" b="1" dirty="0"/>
              <a:t>Lack of Explainability:</a:t>
            </a:r>
            <a:r>
              <a:rPr lang="en-GB" sz="2200" dirty="0"/>
              <a:t> Existing tools provide opaque, non-actionable alerts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q"/>
              <a:defRPr sz="2000">
                <a:solidFill>
                  <a:srgbClr val="333333"/>
                </a:solidFill>
              </a:defRPr>
            </a:pPr>
            <a:r>
              <a:rPr lang="en-GB" sz="2200" b="1" dirty="0"/>
              <a:t>Cloud Dependency:</a:t>
            </a:r>
            <a:r>
              <a:rPr lang="en-GB" sz="2200" dirty="0"/>
              <a:t> Most SIEM solutions unsuitable for air-gapped environments</a:t>
            </a: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6840" y="457199"/>
            <a:ext cx="4339377" cy="608228"/>
          </a:xfrm>
        </p:spPr>
        <p:txBody>
          <a:bodyPr/>
          <a:lstStyle/>
          <a:p>
            <a:r>
              <a:rPr lang="en-US" sz="2800" dirty="0">
                <a:latin typeface="+mn-lt"/>
                <a:cs typeface="Times New Roman" panose="02020603050405020304" pitchFamily="18" charset="0"/>
              </a:rPr>
              <a:t>Objectives :</a:t>
            </a:r>
            <a:endParaRPr lang="en-US" sz="2800" dirty="0">
              <a:latin typeface="+mn-lt"/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>
                <a:latin typeface="+mn-lt"/>
              </a:rPr>
              <a:pPr/>
              <a:t>5</a:t>
            </a:fld>
            <a:endParaRPr lang="en-US" dirty="0"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940DE8-B9C3-EC8C-36B4-1BF319E2039B}"/>
              </a:ext>
            </a:extLst>
          </p:cNvPr>
          <p:cNvCxnSpPr>
            <a:cxnSpLocks/>
          </p:cNvCxnSpPr>
          <p:nvPr/>
        </p:nvCxnSpPr>
        <p:spPr>
          <a:xfrm>
            <a:off x="3068816" y="1200838"/>
            <a:ext cx="2494702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58044A3D-30E7-55DD-3BC1-81AC19214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77001"/>
            <a:ext cx="12192000" cy="4571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B9EEF2-A354-4749-F0E9-869F75D06892}"/>
              </a:ext>
            </a:extLst>
          </p:cNvPr>
          <p:cNvSpPr txBox="1"/>
          <p:nvPr/>
        </p:nvSpPr>
        <p:spPr>
          <a:xfrm>
            <a:off x="2909752" y="6500739"/>
            <a:ext cx="6097836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700" spc="300" dirty="0">
                <a:cs typeface="Times New Roman" panose="02020603050405020304" pitchFamily="18" charset="0"/>
              </a:rPr>
              <a:t>Department of CAI</a:t>
            </a:r>
            <a:endParaRPr lang="en-IN" sz="1700" spc="300" dirty="0"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7FAAE45-DBF8-C8EF-8731-FA48848B7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3605" y="1409911"/>
            <a:ext cx="9018101" cy="4585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q"/>
              <a:defRPr sz="2000">
                <a:solidFill>
                  <a:srgbClr val="333333"/>
                </a:solidFill>
              </a:defRPr>
            </a:pPr>
            <a:r>
              <a:rPr lang="en-GB" sz="2200" b="1" dirty="0"/>
              <a:t>Threat Detection:</a:t>
            </a:r>
            <a:r>
              <a:rPr lang="en-GB" sz="2200" dirty="0"/>
              <a:t> Identify malicious activity using hybrid ML (unsupervised + supervised)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q"/>
              <a:defRPr sz="2000">
                <a:solidFill>
                  <a:srgbClr val="333333"/>
                </a:solidFill>
              </a:defRPr>
            </a:pPr>
            <a:r>
              <a:rPr lang="en-GB" sz="2200" b="1" dirty="0"/>
              <a:t>Alert Prioritization</a:t>
            </a:r>
            <a:r>
              <a:rPr lang="en-GB" sz="2200" dirty="0"/>
              <a:t>: Generate P0-P4 priority alerts to focus analyst attention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q"/>
              <a:defRPr sz="2000">
                <a:solidFill>
                  <a:srgbClr val="333333"/>
                </a:solidFill>
              </a:defRPr>
            </a:pPr>
            <a:r>
              <a:rPr lang="en-GB" sz="2200" b="1" dirty="0"/>
              <a:t>Explainability:</a:t>
            </a:r>
            <a:r>
              <a:rPr lang="en-GB" sz="2200" dirty="0"/>
              <a:t> Provide human-readable reasoning for every decision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q"/>
              <a:defRPr sz="2000">
                <a:solidFill>
                  <a:srgbClr val="333333"/>
                </a:solidFill>
              </a:defRPr>
            </a:pPr>
            <a:r>
              <a:rPr lang="en-GB" sz="2200" b="1" dirty="0"/>
              <a:t>Offline Operation:</a:t>
            </a:r>
            <a:r>
              <a:rPr lang="en-GB" sz="2200" dirty="0"/>
              <a:t> Operate without network connectivity or cloud dependencies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q"/>
              <a:defRPr sz="2000">
                <a:solidFill>
                  <a:srgbClr val="333333"/>
                </a:solidFill>
              </a:defRPr>
            </a:pPr>
            <a:r>
              <a:rPr lang="en-GB" sz="2200" b="1" dirty="0"/>
              <a:t>Governance-First:</a:t>
            </a:r>
            <a:r>
              <a:rPr lang="en-GB" sz="2200" dirty="0"/>
              <a:t> Ensure all automation is disabled by default with manual controls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q"/>
              <a:defRPr sz="2000">
                <a:solidFill>
                  <a:srgbClr val="333333"/>
                </a:solidFill>
              </a:defRPr>
            </a:pPr>
            <a:r>
              <a:rPr lang="en-GB" sz="2200" b="1" dirty="0"/>
              <a:t>Performance:</a:t>
            </a:r>
            <a:r>
              <a:rPr lang="en-GB" sz="2200" dirty="0"/>
              <a:t> Achieve &gt;80% classification accuracy with minimal false positives</a:t>
            </a: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254" y="297467"/>
            <a:ext cx="7631709" cy="757030"/>
          </a:xfrm>
        </p:spPr>
        <p:txBody>
          <a:bodyPr/>
          <a:lstStyle/>
          <a:p>
            <a:r>
              <a:rPr lang="en-US" sz="2800" dirty="0">
                <a:latin typeface="+mn-lt"/>
                <a:cs typeface="Times New Roman" panose="02020603050405020304" pitchFamily="18" charset="0"/>
              </a:rPr>
              <a:t>System Architecture :</a:t>
            </a:r>
            <a:endParaRPr lang="en-US" sz="2800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>
                <a:latin typeface="+mn-lt"/>
              </a:rPr>
              <a:pPr/>
              <a:t>6</a:t>
            </a:fld>
            <a:endParaRPr lang="en-US" dirty="0"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F6B4654-BEE6-CFC1-950D-3A19F8E4B18D}"/>
              </a:ext>
            </a:extLst>
          </p:cNvPr>
          <p:cNvCxnSpPr>
            <a:cxnSpLocks/>
          </p:cNvCxnSpPr>
          <p:nvPr/>
        </p:nvCxnSpPr>
        <p:spPr>
          <a:xfrm>
            <a:off x="797689" y="1067351"/>
            <a:ext cx="4576890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BA0A25E2-2155-04F9-1861-8996BFDF3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77001"/>
            <a:ext cx="12192000" cy="4571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C94A950-41F5-0816-8554-4E8C5F585C1F}"/>
              </a:ext>
            </a:extLst>
          </p:cNvPr>
          <p:cNvSpPr txBox="1"/>
          <p:nvPr/>
        </p:nvSpPr>
        <p:spPr>
          <a:xfrm>
            <a:off x="2909752" y="6500739"/>
            <a:ext cx="6097836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700" spc="300" dirty="0">
                <a:cs typeface="Times New Roman" panose="02020603050405020304" pitchFamily="18" charset="0"/>
              </a:rPr>
              <a:t>Department of CAI</a:t>
            </a:r>
            <a:endParaRPr lang="en-IN" sz="1700" spc="300" dirty="0">
              <a:cs typeface="Times New Roman" panose="02020603050405020304" pitchFamily="18" charset="0"/>
            </a:endParaRPr>
          </a:p>
        </p:txBody>
      </p:sp>
      <p:sp>
        <p:nvSpPr>
          <p:cNvPr id="57" name="Rounded Rectangle 3">
            <a:extLst>
              <a:ext uri="{FF2B5EF4-FFF2-40B4-BE49-F238E27FC236}">
                <a16:creationId xmlns:a16="http://schemas.microsoft.com/office/drawing/2014/main" id="{097BD172-732B-14D5-DC64-CBCB8C2D70EC}"/>
              </a:ext>
            </a:extLst>
          </p:cNvPr>
          <p:cNvSpPr/>
          <p:nvPr/>
        </p:nvSpPr>
        <p:spPr>
          <a:xfrm>
            <a:off x="484803" y="1129109"/>
            <a:ext cx="11247120" cy="5213031"/>
          </a:xfrm>
          <a:prstGeom prst="roundRect">
            <a:avLst>
              <a:gd name="adj" fmla="val 11145"/>
            </a:avLst>
          </a:prstGeom>
          <a:solidFill>
            <a:srgbClr val="F2F2F2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4">
            <a:extLst>
              <a:ext uri="{FF2B5EF4-FFF2-40B4-BE49-F238E27FC236}">
                <a16:creationId xmlns:a16="http://schemas.microsoft.com/office/drawing/2014/main" id="{A3B94D54-C308-15AF-A8D5-9619FAB57912}"/>
              </a:ext>
            </a:extLst>
          </p:cNvPr>
          <p:cNvSpPr/>
          <p:nvPr/>
        </p:nvSpPr>
        <p:spPr>
          <a:xfrm>
            <a:off x="651242" y="1441755"/>
            <a:ext cx="10915054" cy="1615446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PHASE-1: DETECTION ENGINE</a:t>
            </a:r>
          </a:p>
        </p:txBody>
      </p:sp>
      <p:sp>
        <p:nvSpPr>
          <p:cNvPr id="59" name="Rounded Rectangle 5">
            <a:extLst>
              <a:ext uri="{FF2B5EF4-FFF2-40B4-BE49-F238E27FC236}">
                <a16:creationId xmlns:a16="http://schemas.microsoft.com/office/drawing/2014/main" id="{859A11DA-AF43-B217-6769-9CD4EBB01720}"/>
              </a:ext>
            </a:extLst>
          </p:cNvPr>
          <p:cNvSpPr/>
          <p:nvPr/>
        </p:nvSpPr>
        <p:spPr>
          <a:xfrm>
            <a:off x="778724" y="1880559"/>
            <a:ext cx="1463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F497D"/>
                </a:solidFill>
              </a:defRPr>
            </a:pPr>
            <a:r>
              <a:rPr dirty="0"/>
              <a:t>Log</a:t>
            </a:r>
            <a:br>
              <a:rPr dirty="0"/>
            </a:br>
            <a:r>
              <a:rPr dirty="0"/>
              <a:t>Ingestion</a:t>
            </a:r>
          </a:p>
        </p:txBody>
      </p:sp>
      <p:sp>
        <p:nvSpPr>
          <p:cNvPr id="60" name="Right Arrow 6">
            <a:extLst>
              <a:ext uri="{FF2B5EF4-FFF2-40B4-BE49-F238E27FC236}">
                <a16:creationId xmlns:a16="http://schemas.microsoft.com/office/drawing/2014/main" id="{701153C2-BA65-266B-2881-9588B122F655}"/>
              </a:ext>
            </a:extLst>
          </p:cNvPr>
          <p:cNvSpPr/>
          <p:nvPr/>
        </p:nvSpPr>
        <p:spPr>
          <a:xfrm>
            <a:off x="2265446" y="2246319"/>
            <a:ext cx="274320" cy="18288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7">
            <a:extLst>
              <a:ext uri="{FF2B5EF4-FFF2-40B4-BE49-F238E27FC236}">
                <a16:creationId xmlns:a16="http://schemas.microsoft.com/office/drawing/2014/main" id="{D971BEE4-BF07-F84E-8F01-06D63F3540CC}"/>
              </a:ext>
            </a:extLst>
          </p:cNvPr>
          <p:cNvSpPr/>
          <p:nvPr/>
        </p:nvSpPr>
        <p:spPr>
          <a:xfrm>
            <a:off x="2567862" y="1880559"/>
            <a:ext cx="1463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F497D"/>
                </a:solidFill>
              </a:defRPr>
            </a:pPr>
            <a:r>
              <a:rPr dirty="0"/>
              <a:t>Preprocessing</a:t>
            </a:r>
          </a:p>
        </p:txBody>
      </p:sp>
      <p:sp>
        <p:nvSpPr>
          <p:cNvPr id="62" name="Right Arrow 8">
            <a:extLst>
              <a:ext uri="{FF2B5EF4-FFF2-40B4-BE49-F238E27FC236}">
                <a16:creationId xmlns:a16="http://schemas.microsoft.com/office/drawing/2014/main" id="{19E30C4D-AE93-3663-92DD-6122E5C17F10}"/>
              </a:ext>
            </a:extLst>
          </p:cNvPr>
          <p:cNvSpPr/>
          <p:nvPr/>
        </p:nvSpPr>
        <p:spPr>
          <a:xfrm>
            <a:off x="4065605" y="2246319"/>
            <a:ext cx="274320" cy="18288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9">
            <a:extLst>
              <a:ext uri="{FF2B5EF4-FFF2-40B4-BE49-F238E27FC236}">
                <a16:creationId xmlns:a16="http://schemas.microsoft.com/office/drawing/2014/main" id="{10AA10BA-2EA0-85DA-9C8D-372058A3C53F}"/>
              </a:ext>
            </a:extLst>
          </p:cNvPr>
          <p:cNvSpPr/>
          <p:nvPr/>
        </p:nvSpPr>
        <p:spPr>
          <a:xfrm>
            <a:off x="4345986" y="1880559"/>
            <a:ext cx="1463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F497D"/>
                </a:solidFill>
              </a:defRPr>
            </a:pPr>
            <a:r>
              <a:t>Feature</a:t>
            </a:r>
            <a:br/>
            <a:r>
              <a:t>Engineering</a:t>
            </a:r>
          </a:p>
        </p:txBody>
      </p:sp>
      <p:sp>
        <p:nvSpPr>
          <p:cNvPr id="64" name="Right Arrow 10">
            <a:extLst>
              <a:ext uri="{FF2B5EF4-FFF2-40B4-BE49-F238E27FC236}">
                <a16:creationId xmlns:a16="http://schemas.microsoft.com/office/drawing/2014/main" id="{9FF5E804-3B26-350E-26CC-4FF557AAB1B4}"/>
              </a:ext>
            </a:extLst>
          </p:cNvPr>
          <p:cNvSpPr/>
          <p:nvPr/>
        </p:nvSpPr>
        <p:spPr>
          <a:xfrm>
            <a:off x="5854745" y="2246319"/>
            <a:ext cx="274320" cy="18288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11">
            <a:extLst>
              <a:ext uri="{FF2B5EF4-FFF2-40B4-BE49-F238E27FC236}">
                <a16:creationId xmlns:a16="http://schemas.microsoft.com/office/drawing/2014/main" id="{74BA3AEE-1331-0AE6-2289-2FC5A8B1C10A}"/>
              </a:ext>
            </a:extLst>
          </p:cNvPr>
          <p:cNvSpPr/>
          <p:nvPr/>
        </p:nvSpPr>
        <p:spPr>
          <a:xfrm>
            <a:off x="6137458" y="1880559"/>
            <a:ext cx="1463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F497D"/>
                </a:solidFill>
              </a:defRPr>
            </a:pPr>
            <a:r>
              <a:t>Isolation</a:t>
            </a:r>
            <a:br/>
            <a:r>
              <a:t>Forest</a:t>
            </a:r>
          </a:p>
        </p:txBody>
      </p:sp>
      <p:sp>
        <p:nvSpPr>
          <p:cNvPr id="66" name="Right Arrow 12">
            <a:extLst>
              <a:ext uri="{FF2B5EF4-FFF2-40B4-BE49-F238E27FC236}">
                <a16:creationId xmlns:a16="http://schemas.microsoft.com/office/drawing/2014/main" id="{752A31CB-0954-DAAB-213A-A607C5919C20}"/>
              </a:ext>
            </a:extLst>
          </p:cNvPr>
          <p:cNvSpPr/>
          <p:nvPr/>
        </p:nvSpPr>
        <p:spPr>
          <a:xfrm>
            <a:off x="7654904" y="2246319"/>
            <a:ext cx="274320" cy="18288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13">
            <a:extLst>
              <a:ext uri="{FF2B5EF4-FFF2-40B4-BE49-F238E27FC236}">
                <a16:creationId xmlns:a16="http://schemas.microsoft.com/office/drawing/2014/main" id="{29F851B4-1A50-0B88-AC7B-36E19F51D499}"/>
              </a:ext>
            </a:extLst>
          </p:cNvPr>
          <p:cNvSpPr/>
          <p:nvPr/>
        </p:nvSpPr>
        <p:spPr>
          <a:xfrm>
            <a:off x="7985961" y="1880559"/>
            <a:ext cx="1463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F497D"/>
                </a:solidFill>
              </a:defRPr>
            </a:pPr>
            <a:r>
              <a:rPr dirty="0"/>
              <a:t>Random</a:t>
            </a:r>
            <a:br>
              <a:rPr dirty="0"/>
            </a:br>
            <a:r>
              <a:rPr dirty="0"/>
              <a:t>Forest</a:t>
            </a:r>
          </a:p>
        </p:txBody>
      </p:sp>
      <p:sp>
        <p:nvSpPr>
          <p:cNvPr id="68" name="Right Arrow 14">
            <a:extLst>
              <a:ext uri="{FF2B5EF4-FFF2-40B4-BE49-F238E27FC236}">
                <a16:creationId xmlns:a16="http://schemas.microsoft.com/office/drawing/2014/main" id="{05D19528-906B-E153-82B0-11D69EAA494E}"/>
              </a:ext>
            </a:extLst>
          </p:cNvPr>
          <p:cNvSpPr/>
          <p:nvPr/>
        </p:nvSpPr>
        <p:spPr>
          <a:xfrm>
            <a:off x="9516755" y="2246319"/>
            <a:ext cx="274320" cy="18288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15">
            <a:extLst>
              <a:ext uri="{FF2B5EF4-FFF2-40B4-BE49-F238E27FC236}">
                <a16:creationId xmlns:a16="http://schemas.microsoft.com/office/drawing/2014/main" id="{E154F819-4298-8254-5283-429EF59B96DB}"/>
              </a:ext>
            </a:extLst>
          </p:cNvPr>
          <p:cNvSpPr/>
          <p:nvPr/>
        </p:nvSpPr>
        <p:spPr>
          <a:xfrm>
            <a:off x="9862133" y="1880559"/>
            <a:ext cx="1463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F497D"/>
                </a:solidFill>
              </a:defRPr>
            </a:pPr>
            <a:r>
              <a:rPr dirty="0"/>
              <a:t>Ensemble</a:t>
            </a:r>
            <a:br>
              <a:rPr dirty="0"/>
            </a:br>
            <a:r>
              <a:rPr dirty="0"/>
              <a:t>Coordinator</a:t>
            </a:r>
          </a:p>
        </p:txBody>
      </p:sp>
      <p:sp>
        <p:nvSpPr>
          <p:cNvPr id="70" name="Rounded Rectangle 16">
            <a:extLst>
              <a:ext uri="{FF2B5EF4-FFF2-40B4-BE49-F238E27FC236}">
                <a16:creationId xmlns:a16="http://schemas.microsoft.com/office/drawing/2014/main" id="{3A6B8BA1-1A5E-4929-91C4-4328CE899942}"/>
              </a:ext>
            </a:extLst>
          </p:cNvPr>
          <p:cNvSpPr/>
          <p:nvPr/>
        </p:nvSpPr>
        <p:spPr>
          <a:xfrm>
            <a:off x="669455" y="3182217"/>
            <a:ext cx="10915054" cy="1322050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PHASE-2: TRUST &amp; INTELLIGENCE</a:t>
            </a:r>
          </a:p>
        </p:txBody>
      </p:sp>
      <p:sp>
        <p:nvSpPr>
          <p:cNvPr id="71" name="Rounded Rectangle 17">
            <a:extLst>
              <a:ext uri="{FF2B5EF4-FFF2-40B4-BE49-F238E27FC236}">
                <a16:creationId xmlns:a16="http://schemas.microsoft.com/office/drawing/2014/main" id="{F1C10109-896B-6276-F42C-977070594F73}"/>
              </a:ext>
            </a:extLst>
          </p:cNvPr>
          <p:cNvSpPr/>
          <p:nvPr/>
        </p:nvSpPr>
        <p:spPr>
          <a:xfrm>
            <a:off x="863601" y="3628143"/>
            <a:ext cx="22860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497D"/>
                </a:solidFill>
              </a:defRPr>
            </a:pPr>
            <a:r>
              <a:t>Feedback Store</a:t>
            </a:r>
          </a:p>
        </p:txBody>
      </p:sp>
      <p:sp>
        <p:nvSpPr>
          <p:cNvPr id="72" name="Rounded Rectangle 18">
            <a:extLst>
              <a:ext uri="{FF2B5EF4-FFF2-40B4-BE49-F238E27FC236}">
                <a16:creationId xmlns:a16="http://schemas.microsoft.com/office/drawing/2014/main" id="{8C182D68-8710-4407-48C4-D926634DE38A}"/>
              </a:ext>
            </a:extLst>
          </p:cNvPr>
          <p:cNvSpPr/>
          <p:nvPr/>
        </p:nvSpPr>
        <p:spPr>
          <a:xfrm>
            <a:off x="3606801" y="3628143"/>
            <a:ext cx="22860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497D"/>
                </a:solidFill>
              </a:defRPr>
            </a:pPr>
            <a:r>
              <a:t>Drift Monitoring</a:t>
            </a:r>
          </a:p>
        </p:txBody>
      </p:sp>
      <p:sp>
        <p:nvSpPr>
          <p:cNvPr id="73" name="Rounded Rectangle 19">
            <a:extLst>
              <a:ext uri="{FF2B5EF4-FFF2-40B4-BE49-F238E27FC236}">
                <a16:creationId xmlns:a16="http://schemas.microsoft.com/office/drawing/2014/main" id="{54E9DA22-B06C-E747-F56E-EB1B134495DC}"/>
              </a:ext>
            </a:extLst>
          </p:cNvPr>
          <p:cNvSpPr/>
          <p:nvPr/>
        </p:nvSpPr>
        <p:spPr>
          <a:xfrm>
            <a:off x="6350001" y="3628143"/>
            <a:ext cx="22860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497D"/>
                </a:solidFill>
              </a:defRPr>
            </a:pPr>
            <a:r>
              <a:t>Threshold Calibration</a:t>
            </a:r>
          </a:p>
        </p:txBody>
      </p:sp>
      <p:sp>
        <p:nvSpPr>
          <p:cNvPr id="74" name="Rounded Rectangle 20">
            <a:extLst>
              <a:ext uri="{FF2B5EF4-FFF2-40B4-BE49-F238E27FC236}">
                <a16:creationId xmlns:a16="http://schemas.microsoft.com/office/drawing/2014/main" id="{E3484DC3-2179-167B-825E-10E2219561ED}"/>
              </a:ext>
            </a:extLst>
          </p:cNvPr>
          <p:cNvSpPr/>
          <p:nvPr/>
        </p:nvSpPr>
        <p:spPr>
          <a:xfrm>
            <a:off x="9093201" y="3628143"/>
            <a:ext cx="22860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497D"/>
                </a:solidFill>
              </a:defRPr>
            </a:pPr>
            <a:r>
              <a:t>Explainability</a:t>
            </a:r>
          </a:p>
        </p:txBody>
      </p:sp>
      <p:sp>
        <p:nvSpPr>
          <p:cNvPr id="75" name="Rounded Rectangle 21">
            <a:extLst>
              <a:ext uri="{FF2B5EF4-FFF2-40B4-BE49-F238E27FC236}">
                <a16:creationId xmlns:a16="http://schemas.microsoft.com/office/drawing/2014/main" id="{6E964C96-F88E-A4DD-2358-FF09BD6FB866}"/>
              </a:ext>
            </a:extLst>
          </p:cNvPr>
          <p:cNvSpPr/>
          <p:nvPr/>
        </p:nvSpPr>
        <p:spPr>
          <a:xfrm>
            <a:off x="711201" y="4687148"/>
            <a:ext cx="10795591" cy="1280160"/>
          </a:xfrm>
          <a:prstGeom prst="round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1F497D"/>
                </a:solidFill>
              </a:defRPr>
            </a:pPr>
            <a:r>
              <a:rPr dirty="0"/>
              <a:t>PHASE-3: GOVERNANCE INFRASTRUCTURE (Disabled by Default)</a:t>
            </a:r>
          </a:p>
        </p:txBody>
      </p:sp>
      <p:sp>
        <p:nvSpPr>
          <p:cNvPr id="76" name="Rounded Rectangle 22">
            <a:extLst>
              <a:ext uri="{FF2B5EF4-FFF2-40B4-BE49-F238E27FC236}">
                <a16:creationId xmlns:a16="http://schemas.microsoft.com/office/drawing/2014/main" id="{3C5DC2B8-5F5F-47A1-7998-A088A6FEBA22}"/>
              </a:ext>
            </a:extLst>
          </p:cNvPr>
          <p:cNvSpPr/>
          <p:nvPr/>
        </p:nvSpPr>
        <p:spPr>
          <a:xfrm>
            <a:off x="863601" y="5144348"/>
            <a:ext cx="22860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497D"/>
                </a:solidFill>
              </a:defRPr>
            </a:pPr>
            <a:r>
              <a:t>Governance Policy</a:t>
            </a:r>
          </a:p>
        </p:txBody>
      </p:sp>
      <p:sp>
        <p:nvSpPr>
          <p:cNvPr id="77" name="Rounded Rectangle 23">
            <a:extLst>
              <a:ext uri="{FF2B5EF4-FFF2-40B4-BE49-F238E27FC236}">
                <a16:creationId xmlns:a16="http://schemas.microsoft.com/office/drawing/2014/main" id="{8B2543CA-7110-166A-FA24-7F8283C26C68}"/>
              </a:ext>
            </a:extLst>
          </p:cNvPr>
          <p:cNvSpPr/>
          <p:nvPr/>
        </p:nvSpPr>
        <p:spPr>
          <a:xfrm>
            <a:off x="3606801" y="5144348"/>
            <a:ext cx="22860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497D"/>
                </a:solidFill>
              </a:defRPr>
            </a:pPr>
            <a:r>
              <a:t>Approval Workflow</a:t>
            </a:r>
          </a:p>
        </p:txBody>
      </p:sp>
      <p:sp>
        <p:nvSpPr>
          <p:cNvPr id="78" name="Rounded Rectangle 24">
            <a:extLst>
              <a:ext uri="{FF2B5EF4-FFF2-40B4-BE49-F238E27FC236}">
                <a16:creationId xmlns:a16="http://schemas.microsoft.com/office/drawing/2014/main" id="{0F86E07E-58C6-B3A8-A834-603788813217}"/>
              </a:ext>
            </a:extLst>
          </p:cNvPr>
          <p:cNvSpPr/>
          <p:nvPr/>
        </p:nvSpPr>
        <p:spPr>
          <a:xfrm>
            <a:off x="6350001" y="5144348"/>
            <a:ext cx="22860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497D"/>
                </a:solidFill>
              </a:defRPr>
            </a:pPr>
            <a:r>
              <a:t>Kill Switch</a:t>
            </a:r>
          </a:p>
        </p:txBody>
      </p:sp>
      <p:sp>
        <p:nvSpPr>
          <p:cNvPr id="79" name="Rounded Rectangle 25">
            <a:extLst>
              <a:ext uri="{FF2B5EF4-FFF2-40B4-BE49-F238E27FC236}">
                <a16:creationId xmlns:a16="http://schemas.microsoft.com/office/drawing/2014/main" id="{7BBC2659-9B21-370A-D696-F58C6C1479E2}"/>
              </a:ext>
            </a:extLst>
          </p:cNvPr>
          <p:cNvSpPr/>
          <p:nvPr/>
        </p:nvSpPr>
        <p:spPr>
          <a:xfrm>
            <a:off x="9093201" y="5144348"/>
            <a:ext cx="22860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497D"/>
                </a:solidFill>
              </a:defRPr>
            </a:pPr>
            <a:r>
              <a:t>Audit Logger</a:t>
            </a:r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821776"/>
            <a:ext cx="4762102" cy="626847"/>
          </a:xfrm>
        </p:spPr>
        <p:txBody>
          <a:bodyPr/>
          <a:lstStyle/>
          <a:p>
            <a:r>
              <a:rPr lang="en-US" sz="2800" dirty="0">
                <a:latin typeface="+mn-lt"/>
                <a:cs typeface="Times New Roman" panose="02020603050405020304" pitchFamily="18" charset="0"/>
              </a:rPr>
              <a:t>Module Description :</a:t>
            </a:r>
            <a:endParaRPr lang="en-US" sz="2800" dirty="0"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>
                <a:latin typeface="+mn-lt"/>
              </a:rPr>
              <a:pPr/>
              <a:t>7</a:t>
            </a:fld>
            <a:endParaRPr lang="en-US" dirty="0">
              <a:latin typeface="+mn-lt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DFEDF54-0D4F-7D3A-61F9-B6CA4BA33EAD}"/>
              </a:ext>
            </a:extLst>
          </p:cNvPr>
          <p:cNvCxnSpPr>
            <a:cxnSpLocks/>
          </p:cNvCxnSpPr>
          <p:nvPr/>
        </p:nvCxnSpPr>
        <p:spPr>
          <a:xfrm>
            <a:off x="1661546" y="1456066"/>
            <a:ext cx="4332443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FF41F123-6065-A9C6-5922-1354A8EB2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77001"/>
            <a:ext cx="12192000" cy="45719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A7CDF19-2231-1A7B-F811-10EA12C08A12}"/>
              </a:ext>
            </a:extLst>
          </p:cNvPr>
          <p:cNvSpPr txBox="1"/>
          <p:nvPr/>
        </p:nvSpPr>
        <p:spPr>
          <a:xfrm>
            <a:off x="2909752" y="6500739"/>
            <a:ext cx="6097836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700" spc="300" dirty="0">
                <a:cs typeface="Times New Roman" panose="02020603050405020304" pitchFamily="18" charset="0"/>
              </a:rPr>
              <a:t>Department of CAI</a:t>
            </a:r>
            <a:endParaRPr lang="en-IN" sz="1700" spc="300" dirty="0">
              <a:cs typeface="Times New Roman" panose="02020603050405020304" pitchFamily="18" charset="0"/>
            </a:endParaRPr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5E5BC4E8-88A9-ED70-5714-D9FA20C4AE8A}"/>
              </a:ext>
            </a:extLst>
          </p:cNvPr>
          <p:cNvSpPr/>
          <p:nvPr/>
        </p:nvSpPr>
        <p:spPr>
          <a:xfrm>
            <a:off x="541862" y="2286002"/>
            <a:ext cx="5770803" cy="887301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2400" dirty="0"/>
              <a:t>Module 1: Log Ingestion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415FD6-D589-BFDA-F2CF-543DF7E7C9C6}"/>
              </a:ext>
            </a:extLst>
          </p:cNvPr>
          <p:cNvSpPr txBox="1"/>
          <p:nvPr/>
        </p:nvSpPr>
        <p:spPr>
          <a:xfrm>
            <a:off x="541863" y="3417141"/>
            <a:ext cx="53949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  <a:defRPr sz="1600">
                <a:solidFill>
                  <a:srgbClr val="333333"/>
                </a:solidFill>
              </a:defRPr>
            </a:pPr>
            <a:r>
              <a:rPr sz="2200" dirty="0"/>
              <a:t>Multi-format: JSON, CSV, Syslog, EVTX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  <a:defRPr sz="1600">
                <a:solidFill>
                  <a:srgbClr val="333333"/>
                </a:solidFill>
              </a:defRPr>
            </a:pPr>
            <a:r>
              <a:rPr sz="2200" dirty="0"/>
              <a:t>Format detection &amp; field extraction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  <a:defRPr sz="1600">
                <a:solidFill>
                  <a:srgbClr val="333333"/>
                </a:solidFill>
              </a:defRPr>
            </a:pPr>
            <a:r>
              <a:rPr sz="2200" dirty="0"/>
              <a:t>Timestamp normalization to UTC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  <a:defRPr sz="1600">
                <a:solidFill>
                  <a:srgbClr val="333333"/>
                </a:solidFill>
              </a:defRPr>
            </a:pPr>
            <a:r>
              <a:rPr sz="2200" dirty="0"/>
              <a:t>Schema &amp; field validation</a:t>
            </a:r>
          </a:p>
        </p:txBody>
      </p:sp>
      <p:sp>
        <p:nvSpPr>
          <p:cNvPr id="16" name="Rounded Rectangle 5">
            <a:extLst>
              <a:ext uri="{FF2B5EF4-FFF2-40B4-BE49-F238E27FC236}">
                <a16:creationId xmlns:a16="http://schemas.microsoft.com/office/drawing/2014/main" id="{D7D0199D-2BAC-3805-447F-DE37C6185D50}"/>
              </a:ext>
            </a:extLst>
          </p:cNvPr>
          <p:cNvSpPr/>
          <p:nvPr/>
        </p:nvSpPr>
        <p:spPr>
          <a:xfrm>
            <a:off x="6427889" y="2286002"/>
            <a:ext cx="5394960" cy="8623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2400" dirty="0"/>
              <a:t>Module 2: Data Preprocessing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C30ACC-7291-E6B8-162C-15C7166D04E4}"/>
              </a:ext>
            </a:extLst>
          </p:cNvPr>
          <p:cNvSpPr txBox="1"/>
          <p:nvPr/>
        </p:nvSpPr>
        <p:spPr>
          <a:xfrm>
            <a:off x="6427888" y="3446087"/>
            <a:ext cx="576411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  <a:defRPr sz="1600">
                <a:solidFill>
                  <a:srgbClr val="333333"/>
                </a:solidFill>
              </a:defRPr>
            </a:pPr>
            <a:r>
              <a:rPr sz="2200" dirty="0"/>
              <a:t>Field standardization (src_ip, dst_ip, port)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  <a:defRPr sz="1600">
                <a:solidFill>
                  <a:srgbClr val="333333"/>
                </a:solidFill>
              </a:defRPr>
            </a:pPr>
            <a:r>
              <a:rPr sz="2200" dirty="0"/>
              <a:t>Categorical to integer encoding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  <a:defRPr sz="1600">
                <a:solidFill>
                  <a:srgbClr val="333333"/>
                </a:solidFill>
              </a:defRPr>
            </a:pPr>
            <a:r>
              <a:rPr sz="2200" dirty="0"/>
              <a:t>Missing value handling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  <a:defRPr sz="1600">
                <a:solidFill>
                  <a:srgbClr val="333333"/>
                </a:solidFill>
              </a:defRPr>
            </a:pPr>
            <a:r>
              <a:rPr sz="2200" dirty="0"/>
              <a:t>Normalized DataFrame output</a:t>
            </a:r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052BE-1D14-C297-D288-DDE810352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036B086-5CAE-50AC-4E11-E0EB2E1A8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821776"/>
            <a:ext cx="4762102" cy="626847"/>
          </a:xfrm>
        </p:spPr>
        <p:txBody>
          <a:bodyPr/>
          <a:lstStyle/>
          <a:p>
            <a:r>
              <a:rPr lang="en-US" sz="2800" dirty="0">
                <a:latin typeface="+mn-lt"/>
                <a:cs typeface="Times New Roman" panose="02020603050405020304" pitchFamily="18" charset="0"/>
              </a:rPr>
              <a:t>Module Description :</a:t>
            </a:r>
            <a:endParaRPr lang="en-US" sz="2800" dirty="0"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8A866A-BA3E-5900-4153-12750A9D44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>
                <a:latin typeface="+mn-lt"/>
              </a:rPr>
              <a:pPr/>
              <a:t>8</a:t>
            </a:fld>
            <a:endParaRPr lang="en-US" dirty="0">
              <a:latin typeface="+mn-l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298BE3B-C2CD-B4BF-C770-CE2058C3AE9C}"/>
              </a:ext>
            </a:extLst>
          </p:cNvPr>
          <p:cNvCxnSpPr>
            <a:cxnSpLocks/>
          </p:cNvCxnSpPr>
          <p:nvPr/>
        </p:nvCxnSpPr>
        <p:spPr>
          <a:xfrm>
            <a:off x="1627682" y="1608462"/>
            <a:ext cx="4332443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A3C16849-FB57-890D-58AA-A53008765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77001"/>
            <a:ext cx="12192000" cy="4571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DCF7D2-42D7-94EA-4FB0-2FF34E5CBEC2}"/>
              </a:ext>
            </a:extLst>
          </p:cNvPr>
          <p:cNvSpPr txBox="1"/>
          <p:nvPr/>
        </p:nvSpPr>
        <p:spPr>
          <a:xfrm>
            <a:off x="2909752" y="6500739"/>
            <a:ext cx="6097836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700" spc="300" dirty="0">
                <a:cs typeface="Times New Roman" panose="02020603050405020304" pitchFamily="18" charset="0"/>
              </a:rPr>
              <a:t>Department of CAI</a:t>
            </a:r>
            <a:endParaRPr lang="en-IN" sz="1700" spc="300" dirty="0">
              <a:cs typeface="Times New Roman" panose="02020603050405020304" pitchFamily="18" charset="0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DC533CFC-AF4C-B0FC-BE31-DBF7FA70AE07}"/>
              </a:ext>
            </a:extLst>
          </p:cNvPr>
          <p:cNvSpPr/>
          <p:nvPr/>
        </p:nvSpPr>
        <p:spPr>
          <a:xfrm>
            <a:off x="541862" y="2286002"/>
            <a:ext cx="5770803" cy="887301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IN" sz="2400" dirty="0"/>
              <a:t>Module 3: ML Detection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6DEDBE-2ABD-2E25-A4C6-187FEFD4900B}"/>
              </a:ext>
            </a:extLst>
          </p:cNvPr>
          <p:cNvSpPr txBox="1"/>
          <p:nvPr/>
        </p:nvSpPr>
        <p:spPr>
          <a:xfrm>
            <a:off x="541863" y="3417141"/>
            <a:ext cx="539496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rPr lang="en-IN" sz="2400" dirty="0"/>
              <a:t>• 78 numeric feature extraction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rPr lang="en-IN" sz="2400" dirty="0"/>
              <a:t>• Isolation Forest anomaly scores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rPr lang="en-IN" sz="2400" dirty="0"/>
              <a:t>• Random Forest classification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rPr lang="en-IN" sz="2400" dirty="0"/>
              <a:t>• Ensemble risk scoring</a:t>
            </a:r>
          </a:p>
        </p:txBody>
      </p:sp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342CE7AD-D198-94CC-D93D-8A222E00EEC3}"/>
              </a:ext>
            </a:extLst>
          </p:cNvPr>
          <p:cNvSpPr/>
          <p:nvPr/>
        </p:nvSpPr>
        <p:spPr>
          <a:xfrm>
            <a:off x="6427889" y="2286002"/>
            <a:ext cx="5394960" cy="8623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IN" sz="2400" dirty="0"/>
              <a:t>Module 4: Alert &amp; Reporting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1847CB-13E0-B854-A526-2796EEF65B60}"/>
              </a:ext>
            </a:extLst>
          </p:cNvPr>
          <p:cNvSpPr txBox="1"/>
          <p:nvPr/>
        </p:nvSpPr>
        <p:spPr>
          <a:xfrm>
            <a:off x="6427888" y="3446087"/>
            <a:ext cx="5764111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rPr lang="en-GB" sz="2400" dirty="0"/>
              <a:t>• Priority assignment (P0-P4)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rPr lang="en-GB" sz="2400" dirty="0"/>
              <a:t>• MITRE ATT&amp;CK mapping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rPr lang="en-GB" sz="2400" dirty="0"/>
              <a:t>• Feature importance explanation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rPr lang="en-GB" sz="2400" dirty="0"/>
              <a:t>• Real-time dashboard</a:t>
            </a:r>
          </a:p>
        </p:txBody>
      </p:sp>
    </p:spTree>
    <p:extLst>
      <p:ext uri="{BB962C8B-B14F-4D97-AF65-F5344CB8AC3E}">
        <p14:creationId xmlns:p14="http://schemas.microsoft.com/office/powerpoint/2010/main" val="3312101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176" y="87620"/>
            <a:ext cx="9875463" cy="999746"/>
          </a:xfrm>
        </p:spPr>
        <p:txBody>
          <a:bodyPr/>
          <a:lstStyle/>
          <a:p>
            <a:r>
              <a:rPr lang="en-US" sz="2800" dirty="0">
                <a:latin typeface="+mn-lt"/>
                <a:cs typeface="Times New Roman" panose="02020603050405020304" pitchFamily="18" charset="0"/>
              </a:rPr>
              <a:t>Algorithms Used - HYBRID ML APPROACH:</a:t>
            </a:r>
            <a:endParaRPr lang="en-US" sz="2800" dirty="0"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>
                <a:latin typeface="+mn-lt"/>
              </a:rPr>
              <a:pPr/>
              <a:t>9</a:t>
            </a:fld>
            <a:endParaRPr lang="en-US" dirty="0">
              <a:latin typeface="+mn-lt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1D9D4B6-FDB5-12D8-EB2B-828D5C3EF97F}"/>
              </a:ext>
            </a:extLst>
          </p:cNvPr>
          <p:cNvCxnSpPr>
            <a:cxnSpLocks/>
          </p:cNvCxnSpPr>
          <p:nvPr/>
        </p:nvCxnSpPr>
        <p:spPr>
          <a:xfrm>
            <a:off x="1396328" y="1061622"/>
            <a:ext cx="7984739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E0A4CF40-4E9C-8A5D-CA4A-40C1F3B1A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77001"/>
            <a:ext cx="12192000" cy="45719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418AAFD-6D47-51A3-2C7C-CAEC2BC618E3}"/>
              </a:ext>
            </a:extLst>
          </p:cNvPr>
          <p:cNvSpPr txBox="1"/>
          <p:nvPr/>
        </p:nvSpPr>
        <p:spPr>
          <a:xfrm>
            <a:off x="2909752" y="6500739"/>
            <a:ext cx="6097836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700" spc="300" dirty="0">
                <a:cs typeface="Times New Roman" panose="02020603050405020304" pitchFamily="18" charset="0"/>
              </a:rPr>
              <a:t>Department of CAI</a:t>
            </a:r>
            <a:endParaRPr lang="en-IN" sz="1700" spc="300" dirty="0">
              <a:cs typeface="Times New Roman" panose="02020603050405020304" pitchFamily="18" charset="0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4384E819-764B-9F03-1C7E-CC3B17808428}"/>
              </a:ext>
            </a:extLst>
          </p:cNvPr>
          <p:cNvSpPr/>
          <p:nvPr/>
        </p:nvSpPr>
        <p:spPr>
          <a:xfrm>
            <a:off x="626533" y="1222586"/>
            <a:ext cx="5577840" cy="256032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6DF029-4F04-0959-C3C3-BD971510DC07}"/>
              </a:ext>
            </a:extLst>
          </p:cNvPr>
          <p:cNvSpPr txBox="1"/>
          <p:nvPr/>
        </p:nvSpPr>
        <p:spPr>
          <a:xfrm>
            <a:off x="673949" y="1405466"/>
            <a:ext cx="365927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sz="2400" dirty="0"/>
              <a:t>🌲 ISOLATION FOREST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217F97-4EDF-5375-F9F6-82831F5291C5}"/>
              </a:ext>
            </a:extLst>
          </p:cNvPr>
          <p:cNvSpPr txBox="1"/>
          <p:nvPr/>
        </p:nvSpPr>
        <p:spPr>
          <a:xfrm>
            <a:off x="809413" y="1862666"/>
            <a:ext cx="521208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sz="2000" dirty="0"/>
              <a:t>Type: Unsupervised Anomaly Detection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sz="2000" dirty="0"/>
              <a:t>Training: Benign records only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sz="2000" dirty="0"/>
              <a:t>Output: Anomaly score [0, 1]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sz="2000" dirty="0"/>
              <a:t>Purpose: Detect novel, unknown threats</a:t>
            </a:r>
          </a:p>
        </p:txBody>
      </p:sp>
      <p:sp>
        <p:nvSpPr>
          <p:cNvPr id="16" name="Rounded Rectangle 6">
            <a:extLst>
              <a:ext uri="{FF2B5EF4-FFF2-40B4-BE49-F238E27FC236}">
                <a16:creationId xmlns:a16="http://schemas.microsoft.com/office/drawing/2014/main" id="{68F54A5E-93E9-2E51-C5CE-C3C0C3AF652F}"/>
              </a:ext>
            </a:extLst>
          </p:cNvPr>
          <p:cNvSpPr/>
          <p:nvPr/>
        </p:nvSpPr>
        <p:spPr>
          <a:xfrm>
            <a:off x="6387253" y="1222586"/>
            <a:ext cx="5577840" cy="256032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D7B9B0-3336-AF18-496E-CA7B0207491B}"/>
              </a:ext>
            </a:extLst>
          </p:cNvPr>
          <p:cNvSpPr txBox="1"/>
          <p:nvPr/>
        </p:nvSpPr>
        <p:spPr>
          <a:xfrm>
            <a:off x="6434669" y="1405466"/>
            <a:ext cx="341632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sz="2400" dirty="0"/>
              <a:t>🌳 RANDOM FOREST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63E94A-7ED5-3213-0DB2-067B43994458}"/>
              </a:ext>
            </a:extLst>
          </p:cNvPr>
          <p:cNvSpPr txBox="1"/>
          <p:nvPr/>
        </p:nvSpPr>
        <p:spPr>
          <a:xfrm>
            <a:off x="6570133" y="1862666"/>
            <a:ext cx="521208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sz="2000" dirty="0"/>
              <a:t>Type: Supervised Classification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sz="2000" dirty="0"/>
              <a:t>Training: Full labeled dataset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sz="2000" dirty="0"/>
              <a:t>Output: Class + confidence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  <a:defRPr sz="1400">
                <a:solidFill>
                  <a:srgbClr val="FFFFFF"/>
                </a:solidFill>
              </a:defRPr>
            </a:pPr>
            <a:r>
              <a:rPr sz="2000" dirty="0"/>
              <a:t>Classes: DDoS, Malware, </a:t>
            </a:r>
            <a:r>
              <a:rPr sz="2000" dirty="0" err="1"/>
              <a:t>BruteForce</a:t>
            </a:r>
            <a:r>
              <a:rPr sz="2000" dirty="0"/>
              <a:t>...</a:t>
            </a:r>
          </a:p>
        </p:txBody>
      </p:sp>
      <p:sp>
        <p:nvSpPr>
          <p:cNvPr id="19" name="Rounded Rectangle 9">
            <a:extLst>
              <a:ext uri="{FF2B5EF4-FFF2-40B4-BE49-F238E27FC236}">
                <a16:creationId xmlns:a16="http://schemas.microsoft.com/office/drawing/2014/main" id="{295E599F-BF49-4295-602F-E1917E9941C0}"/>
              </a:ext>
            </a:extLst>
          </p:cNvPr>
          <p:cNvSpPr/>
          <p:nvPr/>
        </p:nvSpPr>
        <p:spPr>
          <a:xfrm>
            <a:off x="2455333" y="4057226"/>
            <a:ext cx="7589520" cy="9144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5EDD29-CEA5-0B00-598F-6B2AF06A159D}"/>
              </a:ext>
            </a:extLst>
          </p:cNvPr>
          <p:cNvSpPr txBox="1"/>
          <p:nvPr/>
        </p:nvSpPr>
        <p:spPr>
          <a:xfrm>
            <a:off x="2790524" y="4240106"/>
            <a:ext cx="691913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497D"/>
                </a:solidFill>
              </a:defRPr>
            </a:pPr>
            <a:r>
              <a:t>⚡ ENSEMBLE COORDINATOR → Risk Score + Priority (P0-P4)</a:t>
            </a:r>
          </a:p>
        </p:txBody>
      </p:sp>
      <p:sp>
        <p:nvSpPr>
          <p:cNvPr id="21" name="Down Arrow 11">
            <a:extLst>
              <a:ext uri="{FF2B5EF4-FFF2-40B4-BE49-F238E27FC236}">
                <a16:creationId xmlns:a16="http://schemas.microsoft.com/office/drawing/2014/main" id="{49830254-E693-E21F-8BBF-4F18CE04EA41}"/>
              </a:ext>
            </a:extLst>
          </p:cNvPr>
          <p:cNvSpPr/>
          <p:nvPr/>
        </p:nvSpPr>
        <p:spPr>
          <a:xfrm>
            <a:off x="3369733" y="3828626"/>
            <a:ext cx="274320" cy="228600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Down Arrow 12">
            <a:extLst>
              <a:ext uri="{FF2B5EF4-FFF2-40B4-BE49-F238E27FC236}">
                <a16:creationId xmlns:a16="http://schemas.microsoft.com/office/drawing/2014/main" id="{A04EBC40-1905-EABC-8F7C-412B70D4F354}"/>
              </a:ext>
            </a:extLst>
          </p:cNvPr>
          <p:cNvSpPr/>
          <p:nvPr/>
        </p:nvSpPr>
        <p:spPr>
          <a:xfrm>
            <a:off x="8856133" y="3828626"/>
            <a:ext cx="274320" cy="228600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180461E-1BE6-9847-54BB-649E089723E6}"/>
              </a:ext>
            </a:extLst>
          </p:cNvPr>
          <p:cNvGrpSpPr/>
          <p:nvPr/>
        </p:nvGrpSpPr>
        <p:grpSpPr>
          <a:xfrm>
            <a:off x="812799" y="5086774"/>
            <a:ext cx="11155680" cy="1317514"/>
            <a:chOff x="626533" y="5103707"/>
            <a:chExt cx="11155680" cy="1317514"/>
          </a:xfrm>
        </p:grpSpPr>
        <p:sp>
          <p:nvSpPr>
            <p:cNvPr id="23" name="Rounded Rectangle 13">
              <a:extLst>
                <a:ext uri="{FF2B5EF4-FFF2-40B4-BE49-F238E27FC236}">
                  <a16:creationId xmlns:a16="http://schemas.microsoft.com/office/drawing/2014/main" id="{5B31EBC4-A173-BE08-7B75-61EF925B2E80}"/>
                </a:ext>
              </a:extLst>
            </p:cNvPr>
            <p:cNvSpPr/>
            <p:nvPr/>
          </p:nvSpPr>
          <p:spPr>
            <a:xfrm>
              <a:off x="626533" y="5103707"/>
              <a:ext cx="11155680" cy="1317514"/>
            </a:xfrm>
            <a:prstGeom prst="roundRect">
              <a:avLst/>
            </a:prstGeom>
            <a:solidFill>
              <a:srgbClr val="F2F2F2"/>
            </a:solidFill>
            <a:ln>
              <a:solidFill>
                <a:srgbClr val="1F49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B9E03A4-C26E-0306-4A0D-6740561A85E1}"/>
                </a:ext>
              </a:extLst>
            </p:cNvPr>
            <p:cNvSpPr txBox="1"/>
            <p:nvPr/>
          </p:nvSpPr>
          <p:spPr>
            <a:xfrm>
              <a:off x="673949" y="5195147"/>
              <a:ext cx="3933000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600" b="1">
                  <a:solidFill>
                    <a:srgbClr val="1F497D"/>
                  </a:solidFill>
                </a:defRPr>
              </a:pPr>
              <a:r>
                <a:rPr sz="2400" dirty="0"/>
                <a:t>💡 Why Hybrid Approach?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AB7FB9A-0EFE-35E5-8CC9-F74BC71CDAF9}"/>
                </a:ext>
              </a:extLst>
            </p:cNvPr>
            <p:cNvSpPr txBox="1"/>
            <p:nvPr/>
          </p:nvSpPr>
          <p:spPr>
            <a:xfrm>
              <a:off x="809413" y="5560907"/>
              <a:ext cx="10785947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200">
                  <a:solidFill>
                    <a:srgbClr val="333333"/>
                  </a:solidFill>
                </a:defRPr>
              </a:pPr>
              <a:r>
                <a:rPr sz="2000" dirty="0"/>
                <a:t>✓ Unknown threats detected by Isolation Forest    ✓ Known threats classified by Random Forest    ✓ Two signals provide higher confidence    </a:t>
              </a:r>
              <a:r>
                <a:rPr lang="en-IN" sz="2000" dirty="0"/>
                <a:t>	     </a:t>
              </a:r>
              <a:r>
                <a:rPr sz="2000" dirty="0"/>
                <a:t>✓ Robustness: backup if one model fails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344" y="295020"/>
            <a:ext cx="6455884" cy="748035"/>
          </a:xfrm>
        </p:spPr>
        <p:txBody>
          <a:bodyPr/>
          <a:lstStyle/>
          <a:p>
            <a:pPr algn="l"/>
            <a:r>
              <a:rPr lang="en-US" sz="2800" dirty="0">
                <a:latin typeface="+mn-lt"/>
                <a:cs typeface="Times New Roman" panose="02020603050405020304" pitchFamily="18" charset="0"/>
              </a:rPr>
              <a:t>Techniques Used :</a:t>
            </a:r>
            <a:endParaRPr lang="en-US" sz="2800" dirty="0">
              <a:latin typeface="+mn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>
                <a:latin typeface="+mn-lt"/>
              </a:rPr>
              <a:pPr/>
              <a:t>10</a:t>
            </a:fld>
            <a:endParaRPr lang="en-US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972EDA-0BFD-9829-AAD8-6B10E4BB2ACB}"/>
              </a:ext>
            </a:extLst>
          </p:cNvPr>
          <p:cNvSpPr txBox="1"/>
          <p:nvPr/>
        </p:nvSpPr>
        <p:spPr>
          <a:xfrm>
            <a:off x="537136" y="1503315"/>
            <a:ext cx="11315558" cy="4061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200" b="1" dirty="0">
                <a:cs typeface="Times New Roman" panose="02020603050405020304" pitchFamily="18" charset="0"/>
              </a:rPr>
              <a:t>Data Preprocessing:</a:t>
            </a:r>
            <a:r>
              <a:rPr lang="en-US" sz="2200" dirty="0">
                <a:cs typeface="Times New Roman" panose="02020603050405020304" pitchFamily="18" charset="0"/>
              </a:rPr>
              <a:t> Timestamp normalization, categorical encoding, field standardization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200" b="1" dirty="0">
                <a:cs typeface="Times New Roman" panose="02020603050405020304" pitchFamily="18" charset="0"/>
              </a:rPr>
              <a:t>Feature Engineering:</a:t>
            </a:r>
            <a:r>
              <a:rPr lang="en-US" sz="2200" dirty="0">
                <a:cs typeface="Times New Roman" panose="02020603050405020304" pitchFamily="18" charset="0"/>
              </a:rPr>
              <a:t> 78 features (statistical, temporal, behavioral, network)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200" b="1" dirty="0">
                <a:cs typeface="Times New Roman" panose="02020603050405020304" pitchFamily="18" charset="0"/>
              </a:rPr>
              <a:t>ML Optimization:</a:t>
            </a:r>
            <a:r>
              <a:rPr lang="en-US" sz="2200" dirty="0">
                <a:cs typeface="Times New Roman" panose="02020603050405020304" pitchFamily="18" charset="0"/>
              </a:rPr>
              <a:t> Class imbalance handling, weighted ensemble, decision matrix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200" b="1" dirty="0">
                <a:cs typeface="Times New Roman" panose="02020603050405020304" pitchFamily="18" charset="0"/>
              </a:rPr>
              <a:t>Security:</a:t>
            </a:r>
            <a:r>
              <a:rPr lang="en-US" sz="2200" dirty="0">
                <a:cs typeface="Times New Roman" panose="02020603050405020304" pitchFamily="18" charset="0"/>
              </a:rPr>
              <a:t> Offline-first, read-only models, deterministic scoring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200" b="1" dirty="0">
                <a:cs typeface="Times New Roman" panose="02020603050405020304" pitchFamily="18" charset="0"/>
              </a:rPr>
              <a:t>Explainability:</a:t>
            </a:r>
            <a:r>
              <a:rPr lang="en-US" sz="2200" dirty="0">
                <a:cs typeface="Times New Roman" panose="02020603050405020304" pitchFamily="18" charset="0"/>
              </a:rPr>
              <a:t> Wrapper-based feature importance, post-hoc reasoning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200" b="1" dirty="0">
                <a:cs typeface="Times New Roman" panose="02020603050405020304" pitchFamily="18" charset="0"/>
              </a:rPr>
              <a:t>Governance:</a:t>
            </a:r>
            <a:r>
              <a:rPr lang="en-US" sz="2200" dirty="0">
                <a:cs typeface="Times New Roman" panose="02020603050405020304" pitchFamily="18" charset="0"/>
              </a:rPr>
              <a:t> Append-only audit logging, kill switch, approval workflows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030366-3DE7-FB88-2417-5E6E31B84140}"/>
              </a:ext>
            </a:extLst>
          </p:cNvPr>
          <p:cNvCxnSpPr>
            <a:cxnSpLocks/>
          </p:cNvCxnSpPr>
          <p:nvPr/>
        </p:nvCxnSpPr>
        <p:spPr>
          <a:xfrm>
            <a:off x="1162496" y="1075986"/>
            <a:ext cx="3618825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EF4D710F-FCF5-9292-3124-3C50B6CBB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77001"/>
            <a:ext cx="12192000" cy="4571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B46DD12-BB5A-8700-376E-4307D58379CF}"/>
              </a:ext>
            </a:extLst>
          </p:cNvPr>
          <p:cNvSpPr txBox="1"/>
          <p:nvPr/>
        </p:nvSpPr>
        <p:spPr>
          <a:xfrm>
            <a:off x="2909752" y="6500739"/>
            <a:ext cx="6097836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700" spc="300" dirty="0">
                <a:cs typeface="Times New Roman" panose="02020603050405020304" pitchFamily="18" charset="0"/>
              </a:rPr>
              <a:t>Department of CAI</a:t>
            </a:r>
            <a:endParaRPr lang="en-IN" sz="1700" spc="3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F60F4-EB54-A9B0-11B2-3216F12B0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F52FE-1135-ED89-C900-E54033CC6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668" y="134079"/>
            <a:ext cx="6169446" cy="820120"/>
          </a:xfrm>
        </p:spPr>
        <p:txBody>
          <a:bodyPr/>
          <a:lstStyle/>
          <a:p>
            <a:r>
              <a:rPr lang="en-US" sz="2800" dirty="0">
                <a:latin typeface="+mn-lt"/>
                <a:cs typeface="Times New Roman" panose="02020603050405020304" pitchFamily="18" charset="0"/>
              </a:rPr>
              <a:t>Tools &amp; Technologies :</a:t>
            </a:r>
            <a:endParaRPr lang="en-US" sz="2800" dirty="0"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FF1BEA-FFBC-8AA6-0F5F-D90A905B20B6}"/>
              </a:ext>
            </a:extLst>
          </p:cNvPr>
          <p:cNvCxnSpPr>
            <a:cxnSpLocks/>
          </p:cNvCxnSpPr>
          <p:nvPr/>
        </p:nvCxnSpPr>
        <p:spPr>
          <a:xfrm>
            <a:off x="989888" y="954989"/>
            <a:ext cx="4640915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C97861A5-0F11-E0F8-8B75-32C24AEEF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77001"/>
            <a:ext cx="12192000" cy="4571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CA8480-E147-8BFD-A18F-F9987CC35962}"/>
              </a:ext>
            </a:extLst>
          </p:cNvPr>
          <p:cNvSpPr txBox="1"/>
          <p:nvPr/>
        </p:nvSpPr>
        <p:spPr>
          <a:xfrm>
            <a:off x="2909752" y="6500739"/>
            <a:ext cx="6097836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700" spc="300" dirty="0">
                <a:cs typeface="Times New Roman" panose="02020603050405020304" pitchFamily="18" charset="0"/>
              </a:rPr>
              <a:t>Department of CAI</a:t>
            </a:r>
            <a:endParaRPr lang="en-IN" sz="1700" spc="300" dirty="0">
              <a:cs typeface="Times New Roman" panose="02020603050405020304" pitchFamily="18" charset="0"/>
            </a:endParaRP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5BC31D17-5704-A03F-8607-865E5CCEA2E4}"/>
              </a:ext>
            </a:extLst>
          </p:cNvPr>
          <p:cNvSpPr/>
          <p:nvPr/>
        </p:nvSpPr>
        <p:spPr>
          <a:xfrm>
            <a:off x="575731" y="1188720"/>
            <a:ext cx="5303520" cy="22860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D575C2-D9CB-1382-D895-CFBA6D829A7B}"/>
              </a:ext>
            </a:extLst>
          </p:cNvPr>
          <p:cNvSpPr txBox="1"/>
          <p:nvPr/>
        </p:nvSpPr>
        <p:spPr>
          <a:xfrm>
            <a:off x="758611" y="1280160"/>
            <a:ext cx="49499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 sz="2000" b="1">
                <a:solidFill>
                  <a:srgbClr val="FFFFFF"/>
                </a:solidFill>
              </a:defRPr>
            </a:pPr>
            <a:r>
              <a:rPr sz="2400" dirty="0"/>
              <a:t>Frontend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859D44-5046-5E92-B208-36194A14188B}"/>
              </a:ext>
            </a:extLst>
          </p:cNvPr>
          <p:cNvSpPr txBox="1"/>
          <p:nvPr/>
        </p:nvSpPr>
        <p:spPr>
          <a:xfrm>
            <a:off x="1097275" y="1828800"/>
            <a:ext cx="4949952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q"/>
              <a:defRPr sz="1600">
                <a:solidFill>
                  <a:srgbClr val="FFFFFF"/>
                </a:solidFill>
              </a:defRPr>
            </a:pPr>
            <a:r>
              <a:rPr sz="2000" dirty="0"/>
              <a:t>PyQt6 - Desktop GUI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q"/>
              <a:defRPr sz="1600">
                <a:solidFill>
                  <a:srgbClr val="FFFFFF"/>
                </a:solidFill>
              </a:defRPr>
            </a:pPr>
            <a:r>
              <a:rPr sz="2000" dirty="0"/>
              <a:t>CLI Interface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q"/>
              <a:defRPr sz="1600">
                <a:solidFill>
                  <a:srgbClr val="FFFFFF"/>
                </a:solidFill>
              </a:defRPr>
            </a:pPr>
            <a:r>
              <a:rPr sz="2000" dirty="0"/>
              <a:t>Real-time Dashboard</a:t>
            </a:r>
          </a:p>
        </p:txBody>
      </p:sp>
      <p:sp>
        <p:nvSpPr>
          <p:cNvPr id="12" name="Rounded Rectangle 6">
            <a:extLst>
              <a:ext uri="{FF2B5EF4-FFF2-40B4-BE49-F238E27FC236}">
                <a16:creationId xmlns:a16="http://schemas.microsoft.com/office/drawing/2014/main" id="{1DDF3C2A-B0EE-2B76-7C6F-ADE5B11FF91E}"/>
              </a:ext>
            </a:extLst>
          </p:cNvPr>
          <p:cNvSpPr/>
          <p:nvPr/>
        </p:nvSpPr>
        <p:spPr>
          <a:xfrm>
            <a:off x="6336451" y="1188720"/>
            <a:ext cx="5303520" cy="22860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D716F7-4481-F7A3-8A6F-2079A30A42E4}"/>
              </a:ext>
            </a:extLst>
          </p:cNvPr>
          <p:cNvSpPr txBox="1"/>
          <p:nvPr/>
        </p:nvSpPr>
        <p:spPr>
          <a:xfrm>
            <a:off x="6519331" y="1280160"/>
            <a:ext cx="49499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 sz="2000" b="1">
                <a:solidFill>
                  <a:srgbClr val="FFFFFF"/>
                </a:solidFill>
              </a:defRPr>
            </a:pPr>
            <a:r>
              <a:rPr sz="2400"/>
              <a:t>Backend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13EF1F-DD63-FA14-F469-E489C6022A98}"/>
              </a:ext>
            </a:extLst>
          </p:cNvPr>
          <p:cNvSpPr txBox="1"/>
          <p:nvPr/>
        </p:nvSpPr>
        <p:spPr>
          <a:xfrm>
            <a:off x="6857995" y="1828800"/>
            <a:ext cx="4949952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q"/>
              <a:defRPr sz="1600">
                <a:solidFill>
                  <a:srgbClr val="FFFFFF"/>
                </a:solidFill>
              </a:defRPr>
            </a:pPr>
            <a:r>
              <a:rPr sz="2000" dirty="0"/>
              <a:t>Python 3.10+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q"/>
              <a:defRPr sz="1600">
                <a:solidFill>
                  <a:srgbClr val="FFFFFF"/>
                </a:solidFill>
              </a:defRPr>
            </a:pPr>
            <a:r>
              <a:rPr sz="2000" dirty="0"/>
              <a:t>Scikit-learn ML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q"/>
              <a:defRPr sz="1600">
                <a:solidFill>
                  <a:srgbClr val="FFFFFF"/>
                </a:solidFill>
              </a:defRPr>
            </a:pPr>
            <a:r>
              <a:rPr sz="2000" dirty="0"/>
              <a:t>Pandas/NumPy</a:t>
            </a:r>
          </a:p>
        </p:txBody>
      </p:sp>
      <p:sp>
        <p:nvSpPr>
          <p:cNvPr id="15" name="Rounded Rectangle 9">
            <a:extLst>
              <a:ext uri="{FF2B5EF4-FFF2-40B4-BE49-F238E27FC236}">
                <a16:creationId xmlns:a16="http://schemas.microsoft.com/office/drawing/2014/main" id="{0964D455-B458-ACA5-B8F6-277952FF46F5}"/>
              </a:ext>
            </a:extLst>
          </p:cNvPr>
          <p:cNvSpPr/>
          <p:nvPr/>
        </p:nvSpPr>
        <p:spPr>
          <a:xfrm>
            <a:off x="575731" y="3931920"/>
            <a:ext cx="5303520" cy="22860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525B07-4854-2146-36E7-50373786E943}"/>
              </a:ext>
            </a:extLst>
          </p:cNvPr>
          <p:cNvSpPr txBox="1"/>
          <p:nvPr/>
        </p:nvSpPr>
        <p:spPr>
          <a:xfrm>
            <a:off x="758611" y="4023359"/>
            <a:ext cx="49499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 sz="2000" b="1">
                <a:solidFill>
                  <a:srgbClr val="FFFFFF"/>
                </a:solidFill>
              </a:defRPr>
            </a:pPr>
            <a:r>
              <a:rPr sz="2400"/>
              <a:t>Database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824DFD-B00B-2A11-415C-08F3E54F318C}"/>
              </a:ext>
            </a:extLst>
          </p:cNvPr>
          <p:cNvSpPr txBox="1"/>
          <p:nvPr/>
        </p:nvSpPr>
        <p:spPr>
          <a:xfrm>
            <a:off x="1097275" y="4572000"/>
            <a:ext cx="4949952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q"/>
              <a:defRPr sz="1600">
                <a:solidFill>
                  <a:srgbClr val="FFFFFF"/>
                </a:solidFill>
              </a:defRPr>
            </a:pPr>
            <a:r>
              <a:rPr sz="2000" dirty="0"/>
              <a:t>SQLite - Feedback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q"/>
              <a:defRPr sz="1600">
                <a:solidFill>
                  <a:srgbClr val="FFFFFF"/>
                </a:solidFill>
              </a:defRPr>
            </a:pPr>
            <a:r>
              <a:rPr sz="2000" dirty="0"/>
              <a:t>YAML - Config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q"/>
              <a:defRPr sz="1600">
                <a:solidFill>
                  <a:srgbClr val="FFFFFF"/>
                </a:solidFill>
              </a:defRPr>
            </a:pPr>
            <a:r>
              <a:rPr sz="2000" dirty="0"/>
              <a:t>Joblib - Models</a:t>
            </a:r>
          </a:p>
        </p:txBody>
      </p:sp>
      <p:sp>
        <p:nvSpPr>
          <p:cNvPr id="18" name="Rounded Rectangle 12">
            <a:extLst>
              <a:ext uri="{FF2B5EF4-FFF2-40B4-BE49-F238E27FC236}">
                <a16:creationId xmlns:a16="http://schemas.microsoft.com/office/drawing/2014/main" id="{26E22304-8735-47FB-5953-8320491E63E0}"/>
              </a:ext>
            </a:extLst>
          </p:cNvPr>
          <p:cNvSpPr/>
          <p:nvPr/>
        </p:nvSpPr>
        <p:spPr>
          <a:xfrm>
            <a:off x="6336451" y="3931920"/>
            <a:ext cx="5303520" cy="22860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C85F78-7D49-F8A5-FA03-293AFD1BF163}"/>
              </a:ext>
            </a:extLst>
          </p:cNvPr>
          <p:cNvSpPr txBox="1"/>
          <p:nvPr/>
        </p:nvSpPr>
        <p:spPr>
          <a:xfrm>
            <a:off x="6519331" y="4023359"/>
            <a:ext cx="49499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 sz="2000" b="1">
                <a:solidFill>
                  <a:srgbClr val="FFFFFF"/>
                </a:solidFill>
              </a:defRPr>
            </a:pPr>
            <a:r>
              <a:rPr sz="2400"/>
              <a:t>Dev Tools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37973D-4A92-61C2-3ECE-93B82108A9FC}"/>
              </a:ext>
            </a:extLst>
          </p:cNvPr>
          <p:cNvSpPr txBox="1"/>
          <p:nvPr/>
        </p:nvSpPr>
        <p:spPr>
          <a:xfrm>
            <a:off x="6857995" y="4572000"/>
            <a:ext cx="4949952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q"/>
              <a:defRPr sz="1600">
                <a:solidFill>
                  <a:srgbClr val="FFFFFF"/>
                </a:solidFill>
              </a:defRPr>
            </a:pPr>
            <a:r>
              <a:rPr sz="2000" dirty="0"/>
              <a:t>pytest - Testing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q"/>
              <a:defRPr sz="1600">
                <a:solidFill>
                  <a:srgbClr val="FFFFFF"/>
                </a:solidFill>
              </a:defRPr>
            </a:pPr>
            <a:r>
              <a:rPr sz="2000" dirty="0"/>
              <a:t>Black/Ruff - Linting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q"/>
              <a:defRPr sz="1600">
                <a:solidFill>
                  <a:srgbClr val="FFFFFF"/>
                </a:solidFill>
              </a:defRPr>
            </a:pPr>
            <a:r>
              <a:rPr sz="2000" dirty="0"/>
              <a:t>Git - Version Control</a:t>
            </a:r>
          </a:p>
        </p:txBody>
      </p:sp>
    </p:spTree>
    <p:extLst>
      <p:ext uri="{BB962C8B-B14F-4D97-AF65-F5344CB8AC3E}">
        <p14:creationId xmlns:p14="http://schemas.microsoft.com/office/powerpoint/2010/main" val="3584889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A3F15-0859-1F26-9557-E893ED6D7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A95C738-CD79-46F2-B0FA-99F51C9C8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443" y="232932"/>
            <a:ext cx="9875463" cy="999746"/>
          </a:xfrm>
        </p:spPr>
        <p:txBody>
          <a:bodyPr/>
          <a:lstStyle/>
          <a:p>
            <a:r>
              <a:rPr lang="en-US" sz="2800" dirty="0">
                <a:latin typeface="+mn-lt"/>
                <a:cs typeface="Times New Roman" panose="02020603050405020304" pitchFamily="18" charset="0"/>
              </a:rPr>
              <a:t>Review-1 Outcome :</a:t>
            </a:r>
            <a:endParaRPr lang="en-US" sz="2800" dirty="0"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F575F4-3247-F5C2-A7D1-559205F322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>
                <a:latin typeface="+mn-lt"/>
              </a:rPr>
              <a:pPr/>
              <a:t>12</a:t>
            </a:fld>
            <a:endParaRPr lang="en-US" dirty="0"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1F72D6E-F727-BE6B-AAEC-D20B55BC0565}"/>
              </a:ext>
            </a:extLst>
          </p:cNvPr>
          <p:cNvCxnSpPr>
            <a:cxnSpLocks/>
          </p:cNvCxnSpPr>
          <p:nvPr/>
        </p:nvCxnSpPr>
        <p:spPr>
          <a:xfrm>
            <a:off x="1317577" y="1244074"/>
            <a:ext cx="3946854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4337C193-3831-69B6-2781-E129A4914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77001"/>
            <a:ext cx="12192000" cy="45719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027F016-E7BF-C0CE-5075-4DA84B594373}"/>
              </a:ext>
            </a:extLst>
          </p:cNvPr>
          <p:cNvSpPr txBox="1"/>
          <p:nvPr/>
        </p:nvSpPr>
        <p:spPr>
          <a:xfrm>
            <a:off x="2909752" y="6500739"/>
            <a:ext cx="6097836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700" spc="300" dirty="0">
                <a:cs typeface="Times New Roman" panose="02020603050405020304" pitchFamily="18" charset="0"/>
              </a:rPr>
              <a:t>Department of CAI</a:t>
            </a:r>
            <a:endParaRPr lang="en-IN" sz="1700" spc="300" dirty="0"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DCE4C7-7577-BFBF-58B7-F27B95698202}"/>
              </a:ext>
            </a:extLst>
          </p:cNvPr>
          <p:cNvSpPr txBox="1"/>
          <p:nvPr/>
        </p:nvSpPr>
        <p:spPr>
          <a:xfrm>
            <a:off x="711204" y="1769522"/>
            <a:ext cx="11108266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  <a:defRPr sz="2000">
                <a:solidFill>
                  <a:srgbClr val="333333"/>
                </a:solidFill>
              </a:defRPr>
            </a:pPr>
            <a:r>
              <a:rPr lang="en-IO" sz="2200" dirty="0"/>
              <a:t>✅ </a:t>
            </a:r>
            <a:r>
              <a:rPr lang="en-IN" sz="2200" dirty="0"/>
              <a:t>Requirements Finalized: Offline, hybrid ML, multi-format ingestion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  <a:defRPr sz="2000">
                <a:solidFill>
                  <a:srgbClr val="333333"/>
                </a:solidFill>
              </a:defRPr>
            </a:pPr>
            <a:r>
              <a:rPr lang="en-IO" sz="2200" dirty="0"/>
              <a:t>✅ </a:t>
            </a:r>
            <a:r>
              <a:rPr lang="en-IN" sz="2200" dirty="0"/>
              <a:t>Modules Identified: Log Ingestion, Preprocessing, ML Detection, Alerts, Governance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  <a:defRPr sz="2000">
                <a:solidFill>
                  <a:srgbClr val="333333"/>
                </a:solidFill>
              </a:defRPr>
            </a:pPr>
            <a:r>
              <a:rPr lang="en-IO" sz="2200" dirty="0"/>
              <a:t>✅ </a:t>
            </a:r>
            <a:r>
              <a:rPr lang="en-IN" sz="2200" dirty="0"/>
              <a:t>Architecture Designed: Three-phase modular system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  <a:defRPr sz="2000">
                <a:solidFill>
                  <a:srgbClr val="333333"/>
                </a:solidFill>
              </a:defRPr>
            </a:pPr>
            <a:r>
              <a:rPr lang="en-IO" sz="2200" dirty="0"/>
              <a:t>✅ </a:t>
            </a:r>
            <a:r>
              <a:rPr lang="en-IN" sz="2200" dirty="0"/>
              <a:t>Algorithms Selected: Isolation Forest + Random Forest ensemble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  <a:defRPr sz="2000">
                <a:solidFill>
                  <a:srgbClr val="333333"/>
                </a:solidFill>
              </a:defRPr>
            </a:pPr>
            <a:r>
              <a:rPr lang="en-IO" sz="2200" dirty="0"/>
              <a:t>✅ </a:t>
            </a:r>
            <a:r>
              <a:rPr lang="en-IN" sz="2200" dirty="0"/>
              <a:t>Tech Stack Finalized: Python, Scikit-learn, PyQt6, SQLite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  <a:defRPr sz="2000">
                <a:solidFill>
                  <a:srgbClr val="333333"/>
                </a:solidFill>
              </a:defRPr>
            </a:pPr>
            <a:r>
              <a:rPr lang="en-IO" sz="2200" dirty="0"/>
              <a:t>✅ </a:t>
            </a:r>
            <a:r>
              <a:rPr lang="en-IN" sz="2200" dirty="0"/>
              <a:t>Ready for Implementation Phase with 208+ test cases planned</a:t>
            </a:r>
          </a:p>
        </p:txBody>
      </p:sp>
    </p:spTree>
    <p:extLst>
      <p:ext uri="{BB962C8B-B14F-4D97-AF65-F5344CB8AC3E}">
        <p14:creationId xmlns:p14="http://schemas.microsoft.com/office/powerpoint/2010/main" val="2122009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4810B-8C5F-81D5-DF75-CA36701FD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E562B-932C-20A2-6729-59C58492F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209" y="998060"/>
            <a:ext cx="8256925" cy="748035"/>
          </a:xfrm>
        </p:spPr>
        <p:txBody>
          <a:bodyPr/>
          <a:lstStyle/>
          <a:p>
            <a:pPr algn="l"/>
            <a:r>
              <a:rPr lang="en-US" sz="2800" dirty="0">
                <a:latin typeface="+mn-lt"/>
                <a:cs typeface="Times New Roman" panose="02020603050405020304" pitchFamily="18" charset="0"/>
              </a:rPr>
              <a:t>journal or conference paper :</a:t>
            </a:r>
            <a:endParaRPr lang="en-US" sz="2800" dirty="0">
              <a:latin typeface="+mn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0C6020-CB36-4AC1-5B49-341F866663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>
                <a:latin typeface="+mn-lt"/>
              </a:rPr>
              <a:pPr/>
              <a:t>13</a:t>
            </a:fld>
            <a:endParaRPr lang="en-US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76B914-E3CE-61CD-897A-8ECA7135A718}"/>
              </a:ext>
            </a:extLst>
          </p:cNvPr>
          <p:cNvSpPr txBox="1"/>
          <p:nvPr/>
        </p:nvSpPr>
        <p:spPr>
          <a:xfrm>
            <a:off x="1153014" y="2556576"/>
            <a:ext cx="9457763" cy="781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600" b="1" dirty="0">
                <a:cs typeface="Times New Roman" panose="02020603050405020304" pitchFamily="18" charset="0"/>
              </a:rPr>
              <a:t>Include an acceptance letter for a journal or conference paper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86459A9-8490-B763-3E52-523C7E3D8888}"/>
              </a:ext>
            </a:extLst>
          </p:cNvPr>
          <p:cNvCxnSpPr>
            <a:cxnSpLocks/>
          </p:cNvCxnSpPr>
          <p:nvPr/>
        </p:nvCxnSpPr>
        <p:spPr>
          <a:xfrm>
            <a:off x="1063344" y="1839816"/>
            <a:ext cx="6328974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F479FD23-3898-990C-40BE-AE3001CA8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77001"/>
            <a:ext cx="12192000" cy="4571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9F4BF29-295D-0B25-E56A-FDA8F65D8E57}"/>
              </a:ext>
            </a:extLst>
          </p:cNvPr>
          <p:cNvSpPr txBox="1"/>
          <p:nvPr/>
        </p:nvSpPr>
        <p:spPr>
          <a:xfrm>
            <a:off x="2909752" y="6500739"/>
            <a:ext cx="6097836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700" spc="300" dirty="0">
                <a:cs typeface="Times New Roman" panose="02020603050405020304" pitchFamily="18" charset="0"/>
              </a:rPr>
              <a:t>Department of CAI</a:t>
            </a:r>
            <a:endParaRPr lang="en-IN" sz="1700" spc="3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904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0666" y="1468235"/>
            <a:ext cx="4252510" cy="1054628"/>
          </a:xfrm>
        </p:spPr>
        <p:txBody>
          <a:bodyPr/>
          <a:lstStyle/>
          <a:p>
            <a:r>
              <a:rPr lang="en-US" sz="4000" dirty="0">
                <a:latin typeface="+mn-lt"/>
              </a:rPr>
              <a:t>Thank you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F7B06F3-AE4C-B4D9-1FAF-C4006B61BB41}"/>
              </a:ext>
            </a:extLst>
          </p:cNvPr>
          <p:cNvCxnSpPr>
            <a:cxnSpLocks/>
          </p:cNvCxnSpPr>
          <p:nvPr/>
        </p:nvCxnSpPr>
        <p:spPr>
          <a:xfrm>
            <a:off x="1484463" y="2493552"/>
            <a:ext cx="4332443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85C7359-CB83-9791-6548-0F6AA48AA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77001"/>
            <a:ext cx="12192000" cy="4571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6EFCF2-8BEE-C0FE-2A9E-80420C1D4130}"/>
              </a:ext>
            </a:extLst>
          </p:cNvPr>
          <p:cNvSpPr txBox="1"/>
          <p:nvPr/>
        </p:nvSpPr>
        <p:spPr>
          <a:xfrm>
            <a:off x="2909752" y="6500739"/>
            <a:ext cx="6097836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700" spc="300" dirty="0">
                <a:cs typeface="Times New Roman" panose="02020603050405020304" pitchFamily="18" charset="0"/>
              </a:rPr>
              <a:t>Department of CAI</a:t>
            </a:r>
            <a:endParaRPr lang="en-IN" sz="1700" spc="300" dirty="0">
              <a:cs typeface="Times New Roman" panose="02020603050405020304" pitchFamily="18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3813175"/>
            <a:ext cx="5715000" cy="2235200"/>
          </a:xfrm>
        </p:spPr>
        <p:txBody>
          <a:bodyPr/>
          <a:lstStyle/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Karu Praneeth Kumar – 22G31A3140 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dirty="0" err="1"/>
              <a:t>Aarupalli</a:t>
            </a:r>
            <a:r>
              <a:rPr lang="en-IN" dirty="0"/>
              <a:t> Karthik </a:t>
            </a:r>
            <a:r>
              <a:rPr lang="en-US" dirty="0">
                <a:cs typeface="Times New Roman" panose="02020603050405020304" pitchFamily="18" charset="0"/>
              </a:rPr>
              <a:t>–</a:t>
            </a:r>
            <a:r>
              <a:rPr lang="en-IN" dirty="0"/>
              <a:t> 22G31A3101 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dirty="0"/>
              <a:t>Kanike Vinay </a:t>
            </a:r>
            <a:r>
              <a:rPr lang="en-US" dirty="0">
                <a:cs typeface="Times New Roman" panose="02020603050405020304" pitchFamily="18" charset="0"/>
              </a:rPr>
              <a:t>– </a:t>
            </a:r>
            <a:r>
              <a:rPr lang="en-IN" dirty="0"/>
              <a:t>22G31A3139 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dirty="0" err="1"/>
              <a:t>Pavadi</a:t>
            </a:r>
            <a:r>
              <a:rPr lang="en-IN" dirty="0"/>
              <a:t> Bharath </a:t>
            </a:r>
            <a:r>
              <a:rPr lang="en-US" dirty="0">
                <a:cs typeface="Times New Roman" panose="02020603050405020304" pitchFamily="18" charset="0"/>
              </a:rPr>
              <a:t>– </a:t>
            </a:r>
            <a:r>
              <a:rPr lang="en-IN" dirty="0"/>
              <a:t>22G31A3166</a:t>
            </a:r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{1EA28FEC-94B8-46B6-83C0-7999FD69EB34}TF8a9b5915-b8c7-461e-8cdd-693d48b5e32371f7b7e2_win32-4bf0b9a2ea37</Template>
  <TotalTime>1870</TotalTime>
  <Words>753</Words>
  <Application>Microsoft Office PowerPoint</Application>
  <PresentationFormat>Widescreen</PresentationFormat>
  <Paragraphs>151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Black</vt:lpstr>
      <vt:lpstr>Calibri</vt:lpstr>
      <vt:lpstr>Sabon Next LT</vt:lpstr>
      <vt:lpstr>Times New Roman</vt:lpstr>
      <vt:lpstr>Wingdings</vt:lpstr>
      <vt:lpstr>Custom</vt:lpstr>
      <vt:lpstr>PowerPoint Presentation</vt:lpstr>
      <vt:lpstr>SOC COPILOT – Hybrid ML-Based Security Operations Center Assistant</vt:lpstr>
      <vt:lpstr>Content :</vt:lpstr>
      <vt:lpstr>Problem Statement:</vt:lpstr>
      <vt:lpstr>Objectives :</vt:lpstr>
      <vt:lpstr>System Architecture :</vt:lpstr>
      <vt:lpstr>Module Description :</vt:lpstr>
      <vt:lpstr>Module Description :</vt:lpstr>
      <vt:lpstr>Algorithms Used - HYBRID ML APPROACH:</vt:lpstr>
      <vt:lpstr>Techniques Used :</vt:lpstr>
      <vt:lpstr>Tools &amp; Technologies :</vt:lpstr>
      <vt:lpstr>Review-1 Outcome :</vt:lpstr>
      <vt:lpstr>journal or conference paper 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ASHOK KUMAR</dc:creator>
  <cp:lastModifiedBy>Praneeth Kumar</cp:lastModifiedBy>
  <cp:revision>5</cp:revision>
  <dcterms:created xsi:type="dcterms:W3CDTF">2026-01-14T14:55:31Z</dcterms:created>
  <dcterms:modified xsi:type="dcterms:W3CDTF">2026-01-22T14:06:29Z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